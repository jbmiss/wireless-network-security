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9" r:id="rId3"/>
    <p:sldId id="257" r:id="rId4"/>
    <p:sldId id="258"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858"/>
    <p:restoredTop sz="72497"/>
  </p:normalViewPr>
  <p:slideViewPr>
    <p:cSldViewPr snapToGrid="0">
      <p:cViewPr varScale="1">
        <p:scale>
          <a:sx n="112" d="100"/>
          <a:sy n="112" d="100"/>
        </p:scale>
        <p:origin x="162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287666-9D2D-604B-AB3C-1BF93794687A}"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6F3F55-7750-D44E-ABED-C167F5AA4EAB}" type="slidenum">
              <a:rPr lang="en-US" smtClean="0"/>
              <a:t>‹#›</a:t>
            </a:fld>
            <a:endParaRPr lang="en-US"/>
          </a:p>
        </p:txBody>
      </p:sp>
    </p:spTree>
    <p:extLst>
      <p:ext uri="{BB962C8B-B14F-4D97-AF65-F5344CB8AC3E}">
        <p14:creationId xmlns:p14="http://schemas.microsoft.com/office/powerpoint/2010/main" val="2794677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0"/>
              </a:spcAft>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Welcome to our journey through enhancing our network's security. In this presentation, we're going to unfold the blueprint of how we plan to fortify our wireless network against evolving cyber threats.</a:t>
            </a:r>
          </a:p>
          <a:p>
            <a:pPr marL="342900" marR="0" lvl="0" indent="-342900">
              <a:spcBef>
                <a:spcPts val="0"/>
              </a:spcBef>
              <a:spcAft>
                <a:spcPts val="0"/>
              </a:spcAft>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We'll start by dissecting the current vulnerabilities in our wireless network and how we're reinforcing our defenses to counter these weaknesses effectively.</a:t>
            </a:r>
          </a:p>
          <a:p>
            <a:pPr marL="342900" marR="0" lvl="0" indent="-342900">
              <a:spcBef>
                <a:spcPts val="0"/>
              </a:spcBef>
              <a:spcAft>
                <a:spcPts val="0"/>
              </a:spcAft>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Our strategy includes deploying strategic devices and technologies, from advanced firewalls to sophisticated intrusion detection systems, each playing a crucial role in our network's security.</a:t>
            </a:r>
          </a:p>
          <a:p>
            <a:pPr marL="342900" marR="0" lvl="0" indent="-342900">
              <a:spcBef>
                <a:spcPts val="0"/>
              </a:spcBef>
              <a:spcAft>
                <a:spcPts val="0"/>
              </a:spcAft>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We'll jump into the elevation of our encryption and authentication standards, focusing on the implementation of AES within WPA3 and advanced authentication protocols like EAP-TLS, to ensure robust protection of sensitive HR data.</a:t>
            </a:r>
          </a:p>
          <a:p>
            <a:pPr marL="342900" marR="0" lvl="0" indent="-342900">
              <a:spcBef>
                <a:spcPts val="0"/>
              </a:spcBef>
              <a:spcAft>
                <a:spcPts val="0"/>
              </a:spcAft>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We'll explore how these enhancements not only secure our network today but also make it resilient and adaptable to future technological advancements, ensuring long-term security and reliability.</a:t>
            </a:r>
          </a:p>
          <a:p>
            <a:endParaRPr lang="en-US" dirty="0"/>
          </a:p>
        </p:txBody>
      </p:sp>
      <p:sp>
        <p:nvSpPr>
          <p:cNvPr id="4" name="Slide Number Placeholder 3"/>
          <p:cNvSpPr>
            <a:spLocks noGrp="1"/>
          </p:cNvSpPr>
          <p:nvPr>
            <p:ph type="sldNum" sz="quarter" idx="5"/>
          </p:nvPr>
        </p:nvSpPr>
        <p:spPr/>
        <p:txBody>
          <a:bodyPr/>
          <a:lstStyle/>
          <a:p>
            <a:fld id="{4B6F3F55-7750-D44E-ABED-C167F5AA4EAB}" type="slidenum">
              <a:rPr lang="en-US" smtClean="0"/>
              <a:t>2</a:t>
            </a:fld>
            <a:endParaRPr lang="en-US"/>
          </a:p>
        </p:txBody>
      </p:sp>
    </p:spTree>
    <p:extLst>
      <p:ext uri="{BB962C8B-B14F-4D97-AF65-F5344CB8AC3E}">
        <p14:creationId xmlns:p14="http://schemas.microsoft.com/office/powerpoint/2010/main" val="85631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Eavesdropping and Encryption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Inherent vulnerabilities of wireless networks to eavesdropping make robust encryption a necessity. Implementing AES within the WPA3 framework provides a highly secure encryption layer, making data interception virtually impossible for eavesdroppers. This is crucial for HR data which often contains sensitive personal information.</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Countering Unauthorized Access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The risk of unauthorized access escalates with weak encryption. Upgrading to WPA3 significantly enhances network security, utilizing a complex handshake protocol and state-of-the-art encryption algorithms, thus effectively barricading the network against intruders.</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Mitigating Man-in-the-Middle (MITM) Attacks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To combat MITM attacks, we're not just relying on encryption. Implementing HTTPS protocols across all web interactions and activating WPA3's Protected Management Frames adds an additional layer of security, ensuring each data packet's authenticity and integrity.</a:t>
            </a:r>
          </a:p>
        </p:txBody>
      </p:sp>
      <p:sp>
        <p:nvSpPr>
          <p:cNvPr id="4" name="Slide Number Placeholder 3"/>
          <p:cNvSpPr>
            <a:spLocks noGrp="1"/>
          </p:cNvSpPr>
          <p:nvPr>
            <p:ph type="sldNum" sz="quarter" idx="5"/>
          </p:nvPr>
        </p:nvSpPr>
        <p:spPr/>
        <p:txBody>
          <a:bodyPr/>
          <a:lstStyle/>
          <a:p>
            <a:fld id="{4B6F3F55-7750-D44E-ABED-C167F5AA4EAB}" type="slidenum">
              <a:rPr lang="en-US" smtClean="0"/>
              <a:t>3</a:t>
            </a:fld>
            <a:endParaRPr lang="en-US"/>
          </a:p>
        </p:txBody>
      </p:sp>
    </p:spTree>
    <p:extLst>
      <p:ext uri="{BB962C8B-B14F-4D97-AF65-F5344CB8AC3E}">
        <p14:creationId xmlns:p14="http://schemas.microsoft.com/office/powerpoint/2010/main" val="2079392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Segmentation for Enhanced Security:</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Implementing VLANs to segregate HR traffic from the rest of the network is a strategic move to mitigate risks. In the event of a network breach, VLANs act as barriers, preventing the spread of the breach and protecting sensitive HR data.</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Overcoming Signal Containment Issues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The challenge of signal containment is met with precision through the use of directional antennas. This focused approach not only strengthens the signal within desired areas but also significantly reduces the likelihood of external entities intercepting wireless communications.</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Regular Security Audits for a Robust Network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Conducting thorough security audits, including comprehensive vulnerability assessments and penetration testing, allows us to proactively identify and address potential weak points in the network. This is crucial for maintaining an up-to-date and resilient security posture, especially for a network handling sensitive HR data.</a:t>
            </a:r>
          </a:p>
        </p:txBody>
      </p:sp>
      <p:sp>
        <p:nvSpPr>
          <p:cNvPr id="4" name="Slide Number Placeholder 3"/>
          <p:cNvSpPr>
            <a:spLocks noGrp="1"/>
          </p:cNvSpPr>
          <p:nvPr>
            <p:ph type="sldNum" sz="quarter" idx="5"/>
          </p:nvPr>
        </p:nvSpPr>
        <p:spPr/>
        <p:txBody>
          <a:bodyPr/>
          <a:lstStyle/>
          <a:p>
            <a:fld id="{4B6F3F55-7750-D44E-ABED-C167F5AA4EAB}" type="slidenum">
              <a:rPr lang="en-US" smtClean="0"/>
              <a:t>4</a:t>
            </a:fld>
            <a:endParaRPr lang="en-US"/>
          </a:p>
        </p:txBody>
      </p:sp>
    </p:spTree>
    <p:extLst>
      <p:ext uri="{BB962C8B-B14F-4D97-AF65-F5344CB8AC3E}">
        <p14:creationId xmlns:p14="http://schemas.microsoft.com/office/powerpoint/2010/main" val="1705528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Vulnerability Scanning and Remediation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Utilizing advanced tools like Nessus for vulnerability scanning provides us with detailed insights into potential weaknesses within our network, including outdated firmware and weak password policies. Prompt remediation of these vulnerabilities is crucial for maintaining a secure wireless environment.</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Securing HR Data Transmission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Given the sensitive nature of HR data, ensuring its secure transmission is paramount. By employing TLS protocols, we establish a secure communication channel for HR data, effectively safeguarding it against eavesdropping and tampering during transit.</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Modernizing Network Infrastructure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Our analysis extends to identifying and upgrading outdated components within the network infrastructure. This involves not only updating hardware but also ensuring all network devices operate on the latest firmware versions, thereby closing known security gaps and enhancing overall network security.</a:t>
            </a:r>
          </a:p>
        </p:txBody>
      </p:sp>
      <p:sp>
        <p:nvSpPr>
          <p:cNvPr id="4" name="Slide Number Placeholder 3"/>
          <p:cNvSpPr>
            <a:spLocks noGrp="1"/>
          </p:cNvSpPr>
          <p:nvPr>
            <p:ph type="sldNum" sz="quarter" idx="5"/>
          </p:nvPr>
        </p:nvSpPr>
        <p:spPr/>
        <p:txBody>
          <a:bodyPr/>
          <a:lstStyle/>
          <a:p>
            <a:fld id="{4B6F3F55-7750-D44E-ABED-C167F5AA4EAB}" type="slidenum">
              <a:rPr lang="en-US" smtClean="0"/>
              <a:t>5</a:t>
            </a:fld>
            <a:endParaRPr lang="en-US"/>
          </a:p>
        </p:txBody>
      </p:sp>
    </p:spTree>
    <p:extLst>
      <p:ext uri="{BB962C8B-B14F-4D97-AF65-F5344CB8AC3E}">
        <p14:creationId xmlns:p14="http://schemas.microsoft.com/office/powerpoint/2010/main" val="2205101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Evaluating Existing Protocols: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Detailed examination of existing network protocols, such as Dynamic Host Configuration Protocol (DHCP) and Domain Name System (DNS), is crucial. We're particularly vigilant against DHCP spoofing and DNS hijacking, ensuring these protocols are configured to the highest security standards.</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Adopting Advanced Encryption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Our choice of the Advanced Encryption Standard (AES) for encryption isn’t arbitrary. AES is globally recognized for its complexity and resilience against attacks, such as brute force. It’s a gold standard in encryption, providing a robust shield for our data.</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Robust Authentication Mechanisms: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We're scrutinizing our current authentication methods, replacing weaker protocols with Enhanced Authentication Protocol-Transport Layer Security (EAP-TLS). EAP-TLS is known for its stringent mutual authentication, utilizing digital certificates for both client and server, ensuring a two-way trust system.</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Implementing Secure Communication Protocols: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Emphasis is placed on secure communication protocols, notably IPsec for Virtual Private Networks (VPN). IPsec ensures that all data transmitted over the network is encrypted and secure, providing an impenetrable layer of security for data in transit.</a:t>
            </a:r>
          </a:p>
        </p:txBody>
      </p:sp>
      <p:sp>
        <p:nvSpPr>
          <p:cNvPr id="4" name="Slide Number Placeholder 3"/>
          <p:cNvSpPr>
            <a:spLocks noGrp="1"/>
          </p:cNvSpPr>
          <p:nvPr>
            <p:ph type="sldNum" sz="quarter" idx="5"/>
          </p:nvPr>
        </p:nvSpPr>
        <p:spPr/>
        <p:txBody>
          <a:bodyPr/>
          <a:lstStyle/>
          <a:p>
            <a:fld id="{4B6F3F55-7750-D44E-ABED-C167F5AA4EAB}" type="slidenum">
              <a:rPr lang="en-US" smtClean="0"/>
              <a:t>6</a:t>
            </a:fld>
            <a:endParaRPr lang="en-US"/>
          </a:p>
        </p:txBody>
      </p:sp>
    </p:spTree>
    <p:extLst>
      <p:ext uri="{BB962C8B-B14F-4D97-AF65-F5344CB8AC3E}">
        <p14:creationId xmlns:p14="http://schemas.microsoft.com/office/powerpoint/2010/main" val="468308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Strategic Integration of Firewalls and IDS/IPS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The introduction of firewalls with deep packet inspection is a game-changer, enabling us to monitor, control, and secure network traffic. Intrusion Detection and Prevention Systems (IDS/IPS) are being deployed to detect and respond to threats in real time, enhancing our network's defensive posture.</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Upgrading Wireless Access Points (WAPs):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The upgraded WAPs support the latest WPA3 encryption and are equipped with advanced features like RF spectrum analysis, crucial for mitigating interference and ensuring optimal network performance. We're implementing stringent Access Control Lists (ACLs) on these WAPs, allowing precise control over network access.</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VLANs for HR Data Segregation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Virtual LANs (VLANs) are configured to isolate HR data, creating a secure and exclusive network segment for HR-related traffic. This measure restricts access to sensitive data, significantly reducing the risk of internal and external data breaches.</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Sophisticated Network Monitoring:</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Transitioning to advanced network monitoring tools like SolarWinds allows us comprehensive network surveillance. This upgrade is pivotal in providing real-time network analytics and alerts, ensuring we are promptly informed of any unusual activities or security threats.</a:t>
            </a:r>
          </a:p>
        </p:txBody>
      </p:sp>
      <p:sp>
        <p:nvSpPr>
          <p:cNvPr id="4" name="Slide Number Placeholder 3"/>
          <p:cNvSpPr>
            <a:spLocks noGrp="1"/>
          </p:cNvSpPr>
          <p:nvPr>
            <p:ph type="sldNum" sz="quarter" idx="5"/>
          </p:nvPr>
        </p:nvSpPr>
        <p:spPr/>
        <p:txBody>
          <a:bodyPr/>
          <a:lstStyle/>
          <a:p>
            <a:fld id="{4B6F3F55-7750-D44E-ABED-C167F5AA4EAB}" type="slidenum">
              <a:rPr lang="en-US" smtClean="0"/>
              <a:t>7</a:t>
            </a:fld>
            <a:endParaRPr lang="en-US"/>
          </a:p>
        </p:txBody>
      </p:sp>
    </p:spTree>
    <p:extLst>
      <p:ext uri="{BB962C8B-B14F-4D97-AF65-F5344CB8AC3E}">
        <p14:creationId xmlns:p14="http://schemas.microsoft.com/office/powerpoint/2010/main" val="1782502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Crucial Role of WIPS and WIDS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Wireless Intrusion Prevention Systems (WIPS) and Wireless Intrusion Detection Systems (WIDS) are our network’s watchdogs. WIPS actively prevents intrusions by responding to threats, while WIDS specializes in monitoring and alerting us about potential security breaches.</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Real-Time Threat Detection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These systems are pivotal in detecting unauthorized access, rogue Access Points (APs), and unusual traffic patterns. This capability is vital for early detection and intervention of potential threats, maintaining the sanctity of our wireless network.</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Bolstering Network Resilience: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Integrating WIPS and WIDS fortifies our network’s resilience. They continuously scan for threats, ensuring our network's defense mechanism is always active and up-to-date.</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Proactive Security Posture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WIPS and WIDS are central to our proactive security strategy. Their continuous monitoring and alerting capabilities keep us ahead of potential security issues, allowing for timely and effective responses to any suspicious network activities.</a:t>
            </a:r>
          </a:p>
        </p:txBody>
      </p:sp>
      <p:sp>
        <p:nvSpPr>
          <p:cNvPr id="4" name="Slide Number Placeholder 3"/>
          <p:cNvSpPr>
            <a:spLocks noGrp="1"/>
          </p:cNvSpPr>
          <p:nvPr>
            <p:ph type="sldNum" sz="quarter" idx="5"/>
          </p:nvPr>
        </p:nvSpPr>
        <p:spPr/>
        <p:txBody>
          <a:bodyPr/>
          <a:lstStyle/>
          <a:p>
            <a:fld id="{4B6F3F55-7750-D44E-ABED-C167F5AA4EAB}" type="slidenum">
              <a:rPr lang="en-US" smtClean="0"/>
              <a:t>8</a:t>
            </a:fld>
            <a:endParaRPr lang="en-US"/>
          </a:p>
        </p:txBody>
      </p:sp>
    </p:spTree>
    <p:extLst>
      <p:ext uri="{BB962C8B-B14F-4D97-AF65-F5344CB8AC3E}">
        <p14:creationId xmlns:p14="http://schemas.microsoft.com/office/powerpoint/2010/main" val="4059008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AES Encryption's Superiority:</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We chose the Advanced Encryption Standard (AES) due to its stellar reputation as a fast and secure symmetric key algorithm. AES is lauded for its ability to withstand various attack vectors, making it the gold standard for encrypting sensitive HR data. It's the digital equivalent of a high-security vault, providing robust protection for our valuable information.</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Advantages of WPA3 Protocol: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WPA3 stands as the fortress of Wi-Fi security protocols. It brings to the table enhanced features like individualized data encryption and robust defenses against brute-force attacks. Its capabilities in improving public Wi-Fi security are unparalleled, making it a crucial addition to our network security arsenal.</a:t>
            </a:r>
          </a:p>
          <a:p>
            <a:pPr marL="342900" marR="0" lvl="0" indent="-342900">
              <a:spcBef>
                <a:spcPts val="0"/>
              </a:spcBef>
              <a:spcAft>
                <a:spcPts val="0"/>
              </a:spcAft>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HR Data Protection with AES in WPA3: By encrypting HR data with AES within WPA3, we're setting up a double-layered security shield. This combination ensures maximum security, safeguarding the data against eavesdropping and ensuring its confidentiality during transmission.</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Maintaining Data Integrity:</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Implementing AES within WPA3 does more than just encrypt; it preserves data integrity. This means our HR data isn't just locked away securely; it's also protected from any form of tampering, ensuring it stays accurate and unchanged during its digital journey.</a:t>
            </a:r>
          </a:p>
        </p:txBody>
      </p:sp>
      <p:sp>
        <p:nvSpPr>
          <p:cNvPr id="4" name="Slide Number Placeholder 3"/>
          <p:cNvSpPr>
            <a:spLocks noGrp="1"/>
          </p:cNvSpPr>
          <p:nvPr>
            <p:ph type="sldNum" sz="quarter" idx="5"/>
          </p:nvPr>
        </p:nvSpPr>
        <p:spPr/>
        <p:txBody>
          <a:bodyPr/>
          <a:lstStyle/>
          <a:p>
            <a:fld id="{4B6F3F55-7750-D44E-ABED-C167F5AA4EAB}" type="slidenum">
              <a:rPr lang="en-US" smtClean="0"/>
              <a:t>9</a:t>
            </a:fld>
            <a:endParaRPr lang="en-US"/>
          </a:p>
        </p:txBody>
      </p:sp>
    </p:spTree>
    <p:extLst>
      <p:ext uri="{BB962C8B-B14F-4D97-AF65-F5344CB8AC3E}">
        <p14:creationId xmlns:p14="http://schemas.microsoft.com/office/powerpoint/2010/main" val="10424757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Strategic Device Integration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The introduction of firewalls, Intrusion Detection Systems (IDS), and Intrusion Prevention Systems (IPS) into our network doesn't just fortify our defenses - it redefines them. These devices are not just shields; they're smart sentinels, analyzing traffic patterns and sniffing out anomalies to keep us safe.</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Refining Network Configurations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We've fine-tuned our network settings, transforming our routers and switches into more vigilant guardians. This includes enforcing stricter firewall rules and enabling cutting-edge features that control and streamline network traffic.</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VLANs for Isolating HR Data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Our Virtual LANs (VLANs) serve as digital corridors, exclusively for HR traffic. This isn’t just about segregating data; it's about optimizing network performance, making sure our HR data flows smoothly and securely, untouched by the general network hustle.</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Elevating Network Monitoring</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We've upgraded to state-of-the-art monitoring tools that do more than just watch over our network; they analyze and predict. AI-driven technologies are now our eyes and ears, offering proactive and efficient monitoring for quicker responses to security incidents.</a:t>
            </a:r>
          </a:p>
        </p:txBody>
      </p:sp>
      <p:sp>
        <p:nvSpPr>
          <p:cNvPr id="4" name="Slide Number Placeholder 3"/>
          <p:cNvSpPr>
            <a:spLocks noGrp="1"/>
          </p:cNvSpPr>
          <p:nvPr>
            <p:ph type="sldNum" sz="quarter" idx="5"/>
          </p:nvPr>
        </p:nvSpPr>
        <p:spPr/>
        <p:txBody>
          <a:bodyPr/>
          <a:lstStyle/>
          <a:p>
            <a:fld id="{4B6F3F55-7750-D44E-ABED-C167F5AA4EAB}" type="slidenum">
              <a:rPr lang="en-US" smtClean="0"/>
              <a:t>10</a:t>
            </a:fld>
            <a:endParaRPr lang="en-US"/>
          </a:p>
        </p:txBody>
      </p:sp>
    </p:spTree>
    <p:extLst>
      <p:ext uri="{BB962C8B-B14F-4D97-AF65-F5344CB8AC3E}">
        <p14:creationId xmlns:p14="http://schemas.microsoft.com/office/powerpoint/2010/main" val="401117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Elevating WAP Security</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Our upgraded Wireless Access Points (WAPs) are not just new hardware; they're fortified gateways. With WPA3 support and enhanced network access controls, they act as vigilant gatekeepers, ensuring secure and authorized wireless communications.</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Fortifying Authentication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We're not just checking IDs at the door; we're ensuring everyone has the right credentials. Advanced authentication methods like EAP-TLS offer mutual validation, surpassing traditional Pre-Shared Key (PSK) methods in security.</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AES: The Encryption Standard</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Implementing AES across the network is like putting a high-security lock on every piece of data. This encryption standard is pivotal in shielding HR data, acting as a digital fortress against unauthorized access and interception.</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Proactive Defense with IDS/IPS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The deployment of Intrusion Detection and Prevention Systems is akin to having an advanced security team on constant alert. They're crucial in our security strategy, actively monitoring for breaches and responding swiftly to neutralize threats, reinforcing our network's defense.</a:t>
            </a:r>
          </a:p>
        </p:txBody>
      </p:sp>
      <p:sp>
        <p:nvSpPr>
          <p:cNvPr id="4" name="Slide Number Placeholder 3"/>
          <p:cNvSpPr>
            <a:spLocks noGrp="1"/>
          </p:cNvSpPr>
          <p:nvPr>
            <p:ph type="sldNum" sz="quarter" idx="5"/>
          </p:nvPr>
        </p:nvSpPr>
        <p:spPr/>
        <p:txBody>
          <a:bodyPr/>
          <a:lstStyle/>
          <a:p>
            <a:fld id="{4B6F3F55-7750-D44E-ABED-C167F5AA4EAB}" type="slidenum">
              <a:rPr lang="en-US" smtClean="0"/>
              <a:t>11</a:t>
            </a:fld>
            <a:endParaRPr lang="en-US"/>
          </a:p>
        </p:txBody>
      </p:sp>
    </p:spTree>
    <p:extLst>
      <p:ext uri="{BB962C8B-B14F-4D97-AF65-F5344CB8AC3E}">
        <p14:creationId xmlns:p14="http://schemas.microsoft.com/office/powerpoint/2010/main" val="1581377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Proactive Approach Against Cyber Threats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In the ever-shifting landscape of cyber threats, staying ahead is key. Our security enhancements are a direct response to this dynamic environment. By aligning with the latest industry best practices and compliance standards, we're not just building a fortress; we're future-proofing it against both known and emerging cyber threats. It’s about being proactive rather than reactive.</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Focused on Protecting Sensitive Data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The core rationale behind our specific security choices revolves around safeguarding our HR data's confidentiality and integrity. Every measure, from advanced encryption to network segmentation, is chosen with precision, ensuring that our network is a safe harbor for sensitive information. It's not just about locking doors; it's about making sure only the right keys fit.</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Striking the Right Balance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Enhancing security without hindering performance is like walking a tightrope. We meticulously strategize to bolster our defenses while maintaining, or even enhancing, our network's efficiency. This delicate balance ensures that our security measures fortify without slowing down the pace of our business operations.</a:t>
            </a:r>
          </a:p>
          <a:p>
            <a:pPr marL="342900" marR="0" lvl="0" indent="-342900">
              <a:spcBef>
                <a:spcPts val="0"/>
              </a:spcBef>
              <a:spcAft>
                <a:spcPts val="0"/>
              </a:spcAft>
              <a:buFont typeface="Symbol"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Building for Tomorrow</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Our security strategy isn’t just for today; it's built with an eye on the horizon. We've designed our network enhancements to be scalable and adaptable, ready to evolve with technological advancements. </a:t>
            </a:r>
            <a:r>
              <a:rPr lang="en-US" sz="1800" kern="100">
                <a:effectLst/>
                <a:latin typeface="Calibri" panose="020F0502020204030204" pitchFamily="34" charset="0"/>
                <a:ea typeface="Calibri" panose="020F0502020204030204" pitchFamily="34" charset="0"/>
                <a:cs typeface="Times New Roman" panose="02020603050405020304" pitchFamily="18" charset="0"/>
              </a:rPr>
              <a:t>This foresight ensures that our network is not just secure for now, but primed to face the challenges and opportunities of tomorrow's digital landscape.</a:t>
            </a:r>
          </a:p>
        </p:txBody>
      </p:sp>
      <p:sp>
        <p:nvSpPr>
          <p:cNvPr id="4" name="Slide Number Placeholder 3"/>
          <p:cNvSpPr>
            <a:spLocks noGrp="1"/>
          </p:cNvSpPr>
          <p:nvPr>
            <p:ph type="sldNum" sz="quarter" idx="5"/>
          </p:nvPr>
        </p:nvSpPr>
        <p:spPr/>
        <p:txBody>
          <a:bodyPr/>
          <a:lstStyle/>
          <a:p>
            <a:fld id="{4B6F3F55-7750-D44E-ABED-C167F5AA4EAB}" type="slidenum">
              <a:rPr lang="en-US" smtClean="0"/>
              <a:t>12</a:t>
            </a:fld>
            <a:endParaRPr lang="en-US"/>
          </a:p>
        </p:txBody>
      </p:sp>
    </p:spTree>
    <p:extLst>
      <p:ext uri="{BB962C8B-B14F-4D97-AF65-F5344CB8AC3E}">
        <p14:creationId xmlns:p14="http://schemas.microsoft.com/office/powerpoint/2010/main" val="1060765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0"/>
              </a:spcBef>
              <a:spcAft>
                <a:spcPts val="0"/>
              </a:spcAft>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As we conclude, let's recap our comprehensive approach to securing our wireless network. We've traversed through the various aspects of network security, from identifying vulnerabilities to implementing state-of-the-art protective measures.</a:t>
            </a:r>
          </a:p>
          <a:p>
            <a:pPr marL="342900" marR="0" lvl="0" indent="-342900">
              <a:spcBef>
                <a:spcPts val="0"/>
              </a:spcBef>
              <a:spcAft>
                <a:spcPts val="0"/>
              </a:spcAft>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Our journey has highlighted the significance of advanced protocols and devices. We've seen how AES encryption, WPA3 standards, firewalls, IDS/IPS, and network monitoring tools form the pillars of our network's security.</a:t>
            </a:r>
          </a:p>
          <a:p>
            <a:pPr marL="342900" marR="0" lvl="0" indent="-342900">
              <a:spcBef>
                <a:spcPts val="0"/>
              </a:spcBef>
              <a:spcAft>
                <a:spcPts val="0"/>
              </a:spcAft>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 key takeaway from our discussion is how we've achieved a balance between enhancing security and maintaining network performance. Our strategies ensure that our network remains efficient and user-friendly while being securely fortified.</a:t>
            </a:r>
          </a:p>
          <a:p>
            <a:pPr marL="342900" marR="0" lvl="0" indent="-342900">
              <a:spcBef>
                <a:spcPts val="0"/>
              </a:spcBef>
              <a:spcAft>
                <a:spcPts val="0"/>
              </a:spcAft>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Finally, we've embraced a proactive security mindset. </a:t>
            </a:r>
            <a:r>
              <a:rPr lang="en-US" sz="1800" kern="100">
                <a:effectLst/>
                <a:latin typeface="Calibri" panose="020F0502020204030204" pitchFamily="34" charset="0"/>
                <a:ea typeface="Calibri" panose="020F0502020204030204" pitchFamily="34" charset="0"/>
                <a:cs typeface="Times New Roman" panose="02020603050405020304" pitchFamily="18" charset="0"/>
              </a:rPr>
              <a:t>By staying ahead of cyber threats, continuously updating our security measures, and preparing for future advancements, we're not just securing our network for today but also envisioning and preparing for the challenges and opportunities of tomorrow's digital landscape.</a:t>
            </a:r>
          </a:p>
          <a:p>
            <a:endParaRPr lang="en-US"/>
          </a:p>
        </p:txBody>
      </p:sp>
      <p:sp>
        <p:nvSpPr>
          <p:cNvPr id="4" name="Slide Number Placeholder 3"/>
          <p:cNvSpPr>
            <a:spLocks noGrp="1"/>
          </p:cNvSpPr>
          <p:nvPr>
            <p:ph type="sldNum" sz="quarter" idx="5"/>
          </p:nvPr>
        </p:nvSpPr>
        <p:spPr/>
        <p:txBody>
          <a:bodyPr/>
          <a:lstStyle/>
          <a:p>
            <a:fld id="{4B6F3F55-7750-D44E-ABED-C167F5AA4EAB}" type="slidenum">
              <a:rPr lang="en-US" smtClean="0"/>
              <a:t>13</a:t>
            </a:fld>
            <a:endParaRPr lang="en-US"/>
          </a:p>
        </p:txBody>
      </p:sp>
    </p:spTree>
    <p:extLst>
      <p:ext uri="{BB962C8B-B14F-4D97-AF65-F5344CB8AC3E}">
        <p14:creationId xmlns:p14="http://schemas.microsoft.com/office/powerpoint/2010/main" val="4288819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B6F3F55-7750-D44E-ABED-C167F5AA4EAB}" type="slidenum">
              <a:rPr lang="en-US" smtClean="0"/>
              <a:t>14</a:t>
            </a:fld>
            <a:endParaRPr lang="en-US"/>
          </a:p>
        </p:txBody>
      </p:sp>
    </p:spTree>
    <p:extLst>
      <p:ext uri="{BB962C8B-B14F-4D97-AF65-F5344CB8AC3E}">
        <p14:creationId xmlns:p14="http://schemas.microsoft.com/office/powerpoint/2010/main" val="3899436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ED7BD-4473-FE29-CC1B-4E2500F1AC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E72896-C38B-E507-2C70-5C19DF865C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362C2A-CEE7-0E4C-C3BF-8115E5BE5B04}"/>
              </a:ext>
            </a:extLst>
          </p:cNvPr>
          <p:cNvSpPr>
            <a:spLocks noGrp="1"/>
          </p:cNvSpPr>
          <p:nvPr>
            <p:ph type="dt" sz="half" idx="10"/>
          </p:nvPr>
        </p:nvSpPr>
        <p:spPr/>
        <p:txBody>
          <a:bodyPr/>
          <a:lstStyle/>
          <a:p>
            <a:fld id="{8EDB6A1E-E110-A546-95C3-7EA8531B9191}" type="datetimeFigureOut">
              <a:rPr lang="en-US" smtClean="0"/>
              <a:t>4/27/2026</a:t>
            </a:fld>
            <a:endParaRPr lang="en-US"/>
          </a:p>
        </p:txBody>
      </p:sp>
      <p:sp>
        <p:nvSpPr>
          <p:cNvPr id="5" name="Footer Placeholder 4">
            <a:extLst>
              <a:ext uri="{FF2B5EF4-FFF2-40B4-BE49-F238E27FC236}">
                <a16:creationId xmlns:a16="http://schemas.microsoft.com/office/drawing/2014/main" id="{2689DA41-E53B-3C2C-7A02-31F578509C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BD2B5D-5844-9D38-2E8D-8CFCC1105D7A}"/>
              </a:ext>
            </a:extLst>
          </p:cNvPr>
          <p:cNvSpPr>
            <a:spLocks noGrp="1"/>
          </p:cNvSpPr>
          <p:nvPr>
            <p:ph type="sldNum" sz="quarter" idx="12"/>
          </p:nvPr>
        </p:nvSpPr>
        <p:spPr/>
        <p:txBody>
          <a:bodyPr/>
          <a:lstStyle/>
          <a:p>
            <a:fld id="{5B09677A-B66E-4C4B-9249-9B20534E01F1}" type="slidenum">
              <a:rPr lang="en-US" smtClean="0"/>
              <a:t>‹#›</a:t>
            </a:fld>
            <a:endParaRPr lang="en-US"/>
          </a:p>
        </p:txBody>
      </p:sp>
    </p:spTree>
    <p:extLst>
      <p:ext uri="{BB962C8B-B14F-4D97-AF65-F5344CB8AC3E}">
        <p14:creationId xmlns:p14="http://schemas.microsoft.com/office/powerpoint/2010/main" val="3658345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70BE5-C65F-93F2-1856-F2B6A75215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70DDB0-3DE0-E235-2FDD-977889CF45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057E76-0818-699E-82A4-BA95A9A07803}"/>
              </a:ext>
            </a:extLst>
          </p:cNvPr>
          <p:cNvSpPr>
            <a:spLocks noGrp="1"/>
          </p:cNvSpPr>
          <p:nvPr>
            <p:ph type="dt" sz="half" idx="10"/>
          </p:nvPr>
        </p:nvSpPr>
        <p:spPr/>
        <p:txBody>
          <a:bodyPr/>
          <a:lstStyle/>
          <a:p>
            <a:fld id="{8EDB6A1E-E110-A546-95C3-7EA8531B9191}" type="datetimeFigureOut">
              <a:rPr lang="en-US" smtClean="0"/>
              <a:t>4/27/2026</a:t>
            </a:fld>
            <a:endParaRPr lang="en-US"/>
          </a:p>
        </p:txBody>
      </p:sp>
      <p:sp>
        <p:nvSpPr>
          <p:cNvPr id="5" name="Footer Placeholder 4">
            <a:extLst>
              <a:ext uri="{FF2B5EF4-FFF2-40B4-BE49-F238E27FC236}">
                <a16:creationId xmlns:a16="http://schemas.microsoft.com/office/drawing/2014/main" id="{5DEF448A-BBBC-7A4B-320F-080E06C7AD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113F14-1EB2-1C47-2C7B-23B47A91183B}"/>
              </a:ext>
            </a:extLst>
          </p:cNvPr>
          <p:cNvSpPr>
            <a:spLocks noGrp="1"/>
          </p:cNvSpPr>
          <p:nvPr>
            <p:ph type="sldNum" sz="quarter" idx="12"/>
          </p:nvPr>
        </p:nvSpPr>
        <p:spPr/>
        <p:txBody>
          <a:bodyPr/>
          <a:lstStyle/>
          <a:p>
            <a:fld id="{5B09677A-B66E-4C4B-9249-9B20534E01F1}" type="slidenum">
              <a:rPr lang="en-US" smtClean="0"/>
              <a:t>‹#›</a:t>
            </a:fld>
            <a:endParaRPr lang="en-US"/>
          </a:p>
        </p:txBody>
      </p:sp>
    </p:spTree>
    <p:extLst>
      <p:ext uri="{BB962C8B-B14F-4D97-AF65-F5344CB8AC3E}">
        <p14:creationId xmlns:p14="http://schemas.microsoft.com/office/powerpoint/2010/main" val="288268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1C736-73A4-5B90-EEA9-A377E61761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CAA995-26BE-0046-3B78-3346ACCF7B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1725D2-0D57-E57B-4291-4F5E4AF4E63D}"/>
              </a:ext>
            </a:extLst>
          </p:cNvPr>
          <p:cNvSpPr>
            <a:spLocks noGrp="1"/>
          </p:cNvSpPr>
          <p:nvPr>
            <p:ph type="dt" sz="half" idx="10"/>
          </p:nvPr>
        </p:nvSpPr>
        <p:spPr/>
        <p:txBody>
          <a:bodyPr/>
          <a:lstStyle/>
          <a:p>
            <a:fld id="{8EDB6A1E-E110-A546-95C3-7EA8531B9191}" type="datetimeFigureOut">
              <a:rPr lang="en-US" smtClean="0"/>
              <a:t>4/27/2026</a:t>
            </a:fld>
            <a:endParaRPr lang="en-US"/>
          </a:p>
        </p:txBody>
      </p:sp>
      <p:sp>
        <p:nvSpPr>
          <p:cNvPr id="5" name="Footer Placeholder 4">
            <a:extLst>
              <a:ext uri="{FF2B5EF4-FFF2-40B4-BE49-F238E27FC236}">
                <a16:creationId xmlns:a16="http://schemas.microsoft.com/office/drawing/2014/main" id="{73C2B95D-65AC-3D8B-B3BA-799E2CCBE0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DA570D-DD1E-3DFE-6F28-B894CC1766BC}"/>
              </a:ext>
            </a:extLst>
          </p:cNvPr>
          <p:cNvSpPr>
            <a:spLocks noGrp="1"/>
          </p:cNvSpPr>
          <p:nvPr>
            <p:ph type="sldNum" sz="quarter" idx="12"/>
          </p:nvPr>
        </p:nvSpPr>
        <p:spPr/>
        <p:txBody>
          <a:bodyPr/>
          <a:lstStyle/>
          <a:p>
            <a:fld id="{5B09677A-B66E-4C4B-9249-9B20534E01F1}" type="slidenum">
              <a:rPr lang="en-US" smtClean="0"/>
              <a:t>‹#›</a:t>
            </a:fld>
            <a:endParaRPr lang="en-US"/>
          </a:p>
        </p:txBody>
      </p:sp>
    </p:spTree>
    <p:extLst>
      <p:ext uri="{BB962C8B-B14F-4D97-AF65-F5344CB8AC3E}">
        <p14:creationId xmlns:p14="http://schemas.microsoft.com/office/powerpoint/2010/main" val="3551575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95F8C-7140-58C0-838F-91044F22E1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6E0633-2FB0-2408-368D-BF0BA6FB59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6F2788-CA8B-AD37-D957-91B8653BD3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2D2D7A-7FD6-5FA9-EFF4-D0A8AA77ED39}"/>
              </a:ext>
            </a:extLst>
          </p:cNvPr>
          <p:cNvSpPr>
            <a:spLocks noGrp="1"/>
          </p:cNvSpPr>
          <p:nvPr>
            <p:ph type="dt" sz="half" idx="10"/>
          </p:nvPr>
        </p:nvSpPr>
        <p:spPr/>
        <p:txBody>
          <a:bodyPr/>
          <a:lstStyle/>
          <a:p>
            <a:fld id="{8EDB6A1E-E110-A546-95C3-7EA8531B9191}" type="datetimeFigureOut">
              <a:rPr lang="en-US" smtClean="0"/>
              <a:t>4/27/2026</a:t>
            </a:fld>
            <a:endParaRPr lang="en-US"/>
          </a:p>
        </p:txBody>
      </p:sp>
      <p:sp>
        <p:nvSpPr>
          <p:cNvPr id="6" name="Footer Placeholder 5">
            <a:extLst>
              <a:ext uri="{FF2B5EF4-FFF2-40B4-BE49-F238E27FC236}">
                <a16:creationId xmlns:a16="http://schemas.microsoft.com/office/drawing/2014/main" id="{0246E590-3181-69F0-62E4-A34750378A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17FAD4-CCFA-9C29-A382-4A585E8BE32C}"/>
              </a:ext>
            </a:extLst>
          </p:cNvPr>
          <p:cNvSpPr>
            <a:spLocks noGrp="1"/>
          </p:cNvSpPr>
          <p:nvPr>
            <p:ph type="sldNum" sz="quarter" idx="12"/>
          </p:nvPr>
        </p:nvSpPr>
        <p:spPr/>
        <p:txBody>
          <a:bodyPr/>
          <a:lstStyle/>
          <a:p>
            <a:fld id="{5B09677A-B66E-4C4B-9249-9B20534E01F1}" type="slidenum">
              <a:rPr lang="en-US" smtClean="0"/>
              <a:t>‹#›</a:t>
            </a:fld>
            <a:endParaRPr lang="en-US"/>
          </a:p>
        </p:txBody>
      </p:sp>
    </p:spTree>
    <p:extLst>
      <p:ext uri="{BB962C8B-B14F-4D97-AF65-F5344CB8AC3E}">
        <p14:creationId xmlns:p14="http://schemas.microsoft.com/office/powerpoint/2010/main" val="2567858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71759-A2C4-CA66-4235-9AC2B946CD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47998E5-CEB8-4EA1-C4CA-68D0BAE2CF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6396E6-4DEA-B484-61EC-5106740A4E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12285D8-138E-51F0-7E5B-602B9FC46F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43101-F7C4-1159-5294-DD5EDDD60A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320F44-9D65-E28F-9426-775D1F434688}"/>
              </a:ext>
            </a:extLst>
          </p:cNvPr>
          <p:cNvSpPr>
            <a:spLocks noGrp="1"/>
          </p:cNvSpPr>
          <p:nvPr>
            <p:ph type="dt" sz="half" idx="10"/>
          </p:nvPr>
        </p:nvSpPr>
        <p:spPr/>
        <p:txBody>
          <a:bodyPr/>
          <a:lstStyle/>
          <a:p>
            <a:fld id="{8EDB6A1E-E110-A546-95C3-7EA8531B9191}" type="datetimeFigureOut">
              <a:rPr lang="en-US" smtClean="0"/>
              <a:t>4/27/2026</a:t>
            </a:fld>
            <a:endParaRPr lang="en-US"/>
          </a:p>
        </p:txBody>
      </p:sp>
      <p:sp>
        <p:nvSpPr>
          <p:cNvPr id="8" name="Footer Placeholder 7">
            <a:extLst>
              <a:ext uri="{FF2B5EF4-FFF2-40B4-BE49-F238E27FC236}">
                <a16:creationId xmlns:a16="http://schemas.microsoft.com/office/drawing/2014/main" id="{024F392D-A97D-D190-DF50-AE3E01D350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7C1161-82F5-A8DF-9E08-71A38ED314B6}"/>
              </a:ext>
            </a:extLst>
          </p:cNvPr>
          <p:cNvSpPr>
            <a:spLocks noGrp="1"/>
          </p:cNvSpPr>
          <p:nvPr>
            <p:ph type="sldNum" sz="quarter" idx="12"/>
          </p:nvPr>
        </p:nvSpPr>
        <p:spPr/>
        <p:txBody>
          <a:bodyPr/>
          <a:lstStyle/>
          <a:p>
            <a:fld id="{5B09677A-B66E-4C4B-9249-9B20534E01F1}" type="slidenum">
              <a:rPr lang="en-US" smtClean="0"/>
              <a:t>‹#›</a:t>
            </a:fld>
            <a:endParaRPr lang="en-US"/>
          </a:p>
        </p:txBody>
      </p:sp>
    </p:spTree>
    <p:extLst>
      <p:ext uri="{BB962C8B-B14F-4D97-AF65-F5344CB8AC3E}">
        <p14:creationId xmlns:p14="http://schemas.microsoft.com/office/powerpoint/2010/main" val="4219618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C0C04-BF56-5933-2CA5-7C9A5E28C3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BE1C15-3322-FA41-9657-FB2643A2D281}"/>
              </a:ext>
            </a:extLst>
          </p:cNvPr>
          <p:cNvSpPr>
            <a:spLocks noGrp="1"/>
          </p:cNvSpPr>
          <p:nvPr>
            <p:ph type="dt" sz="half" idx="10"/>
          </p:nvPr>
        </p:nvSpPr>
        <p:spPr/>
        <p:txBody>
          <a:bodyPr/>
          <a:lstStyle/>
          <a:p>
            <a:fld id="{8EDB6A1E-E110-A546-95C3-7EA8531B9191}" type="datetimeFigureOut">
              <a:rPr lang="en-US" smtClean="0"/>
              <a:t>4/27/2026</a:t>
            </a:fld>
            <a:endParaRPr lang="en-US"/>
          </a:p>
        </p:txBody>
      </p:sp>
      <p:sp>
        <p:nvSpPr>
          <p:cNvPr id="4" name="Footer Placeholder 3">
            <a:extLst>
              <a:ext uri="{FF2B5EF4-FFF2-40B4-BE49-F238E27FC236}">
                <a16:creationId xmlns:a16="http://schemas.microsoft.com/office/drawing/2014/main" id="{74ECA3BB-A177-1DA5-99AC-0587F728E7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E714AB-5174-D08C-1B0E-4A52E6F63B6A}"/>
              </a:ext>
            </a:extLst>
          </p:cNvPr>
          <p:cNvSpPr>
            <a:spLocks noGrp="1"/>
          </p:cNvSpPr>
          <p:nvPr>
            <p:ph type="sldNum" sz="quarter" idx="12"/>
          </p:nvPr>
        </p:nvSpPr>
        <p:spPr/>
        <p:txBody>
          <a:bodyPr/>
          <a:lstStyle/>
          <a:p>
            <a:fld id="{5B09677A-B66E-4C4B-9249-9B20534E01F1}" type="slidenum">
              <a:rPr lang="en-US" smtClean="0"/>
              <a:t>‹#›</a:t>
            </a:fld>
            <a:endParaRPr lang="en-US"/>
          </a:p>
        </p:txBody>
      </p:sp>
    </p:spTree>
    <p:extLst>
      <p:ext uri="{BB962C8B-B14F-4D97-AF65-F5344CB8AC3E}">
        <p14:creationId xmlns:p14="http://schemas.microsoft.com/office/powerpoint/2010/main" val="13084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49983C-D1DF-59E2-0143-433567DC09CE}"/>
              </a:ext>
            </a:extLst>
          </p:cNvPr>
          <p:cNvSpPr>
            <a:spLocks noGrp="1"/>
          </p:cNvSpPr>
          <p:nvPr>
            <p:ph type="dt" sz="half" idx="10"/>
          </p:nvPr>
        </p:nvSpPr>
        <p:spPr/>
        <p:txBody>
          <a:bodyPr/>
          <a:lstStyle/>
          <a:p>
            <a:fld id="{8EDB6A1E-E110-A546-95C3-7EA8531B9191}" type="datetimeFigureOut">
              <a:rPr lang="en-US" smtClean="0"/>
              <a:t>4/27/2026</a:t>
            </a:fld>
            <a:endParaRPr lang="en-US"/>
          </a:p>
        </p:txBody>
      </p:sp>
      <p:sp>
        <p:nvSpPr>
          <p:cNvPr id="3" name="Footer Placeholder 2">
            <a:extLst>
              <a:ext uri="{FF2B5EF4-FFF2-40B4-BE49-F238E27FC236}">
                <a16:creationId xmlns:a16="http://schemas.microsoft.com/office/drawing/2014/main" id="{3E92788D-E8EA-ED1F-05F4-C686A13CB0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351F2B-9319-C6E9-B9A5-F77C39EB1D23}"/>
              </a:ext>
            </a:extLst>
          </p:cNvPr>
          <p:cNvSpPr>
            <a:spLocks noGrp="1"/>
          </p:cNvSpPr>
          <p:nvPr>
            <p:ph type="sldNum" sz="quarter" idx="12"/>
          </p:nvPr>
        </p:nvSpPr>
        <p:spPr/>
        <p:txBody>
          <a:bodyPr/>
          <a:lstStyle/>
          <a:p>
            <a:fld id="{5B09677A-B66E-4C4B-9249-9B20534E01F1}" type="slidenum">
              <a:rPr lang="en-US" smtClean="0"/>
              <a:t>‹#›</a:t>
            </a:fld>
            <a:endParaRPr lang="en-US"/>
          </a:p>
        </p:txBody>
      </p:sp>
    </p:spTree>
    <p:extLst>
      <p:ext uri="{BB962C8B-B14F-4D97-AF65-F5344CB8AC3E}">
        <p14:creationId xmlns:p14="http://schemas.microsoft.com/office/powerpoint/2010/main" val="3379687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79BAC-81C8-3122-BE36-80ABBD9D7D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C6E6B1-2AE9-8E70-87CC-D55BE63781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CA4254-CD90-6138-3A2C-47EEFF55F8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E184EC-7A1E-AC42-6253-8159EAB4F096}"/>
              </a:ext>
            </a:extLst>
          </p:cNvPr>
          <p:cNvSpPr>
            <a:spLocks noGrp="1"/>
          </p:cNvSpPr>
          <p:nvPr>
            <p:ph type="dt" sz="half" idx="10"/>
          </p:nvPr>
        </p:nvSpPr>
        <p:spPr/>
        <p:txBody>
          <a:bodyPr/>
          <a:lstStyle/>
          <a:p>
            <a:fld id="{8EDB6A1E-E110-A546-95C3-7EA8531B9191}" type="datetimeFigureOut">
              <a:rPr lang="en-US" smtClean="0"/>
              <a:t>4/27/2026</a:t>
            </a:fld>
            <a:endParaRPr lang="en-US"/>
          </a:p>
        </p:txBody>
      </p:sp>
      <p:sp>
        <p:nvSpPr>
          <p:cNvPr id="6" name="Footer Placeholder 5">
            <a:extLst>
              <a:ext uri="{FF2B5EF4-FFF2-40B4-BE49-F238E27FC236}">
                <a16:creationId xmlns:a16="http://schemas.microsoft.com/office/drawing/2014/main" id="{FE17D000-220A-8348-E63C-D527B4867E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023A75-6DCE-8E12-74FA-FF9E1EB67CC2}"/>
              </a:ext>
            </a:extLst>
          </p:cNvPr>
          <p:cNvSpPr>
            <a:spLocks noGrp="1"/>
          </p:cNvSpPr>
          <p:nvPr>
            <p:ph type="sldNum" sz="quarter" idx="12"/>
          </p:nvPr>
        </p:nvSpPr>
        <p:spPr/>
        <p:txBody>
          <a:bodyPr/>
          <a:lstStyle/>
          <a:p>
            <a:fld id="{5B09677A-B66E-4C4B-9249-9B20534E01F1}" type="slidenum">
              <a:rPr lang="en-US" smtClean="0"/>
              <a:t>‹#›</a:t>
            </a:fld>
            <a:endParaRPr lang="en-US"/>
          </a:p>
        </p:txBody>
      </p:sp>
    </p:spTree>
    <p:extLst>
      <p:ext uri="{BB962C8B-B14F-4D97-AF65-F5344CB8AC3E}">
        <p14:creationId xmlns:p14="http://schemas.microsoft.com/office/powerpoint/2010/main" val="4034260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B79EB-4A42-D4AA-BC63-90F28188C8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8916CF-B0F4-8D48-9711-B00ED7995F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79F7BC-A63E-3FFA-002F-C3E91C9881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F06051-83A5-BBEB-F7D0-D60259FCE6FC}"/>
              </a:ext>
            </a:extLst>
          </p:cNvPr>
          <p:cNvSpPr>
            <a:spLocks noGrp="1"/>
          </p:cNvSpPr>
          <p:nvPr>
            <p:ph type="dt" sz="half" idx="10"/>
          </p:nvPr>
        </p:nvSpPr>
        <p:spPr/>
        <p:txBody>
          <a:bodyPr/>
          <a:lstStyle/>
          <a:p>
            <a:fld id="{8EDB6A1E-E110-A546-95C3-7EA8531B9191}" type="datetimeFigureOut">
              <a:rPr lang="en-US" smtClean="0"/>
              <a:t>4/27/2026</a:t>
            </a:fld>
            <a:endParaRPr lang="en-US"/>
          </a:p>
        </p:txBody>
      </p:sp>
      <p:sp>
        <p:nvSpPr>
          <p:cNvPr id="6" name="Footer Placeholder 5">
            <a:extLst>
              <a:ext uri="{FF2B5EF4-FFF2-40B4-BE49-F238E27FC236}">
                <a16:creationId xmlns:a16="http://schemas.microsoft.com/office/drawing/2014/main" id="{751359A3-CBFF-34EB-299C-157DF340C4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9EE035-99C3-D6A7-0713-0D2CB1B70659}"/>
              </a:ext>
            </a:extLst>
          </p:cNvPr>
          <p:cNvSpPr>
            <a:spLocks noGrp="1"/>
          </p:cNvSpPr>
          <p:nvPr>
            <p:ph type="sldNum" sz="quarter" idx="12"/>
          </p:nvPr>
        </p:nvSpPr>
        <p:spPr/>
        <p:txBody>
          <a:bodyPr/>
          <a:lstStyle/>
          <a:p>
            <a:fld id="{5B09677A-B66E-4C4B-9249-9B20534E01F1}" type="slidenum">
              <a:rPr lang="en-US" smtClean="0"/>
              <a:t>‹#›</a:t>
            </a:fld>
            <a:endParaRPr lang="en-US"/>
          </a:p>
        </p:txBody>
      </p:sp>
    </p:spTree>
    <p:extLst>
      <p:ext uri="{BB962C8B-B14F-4D97-AF65-F5344CB8AC3E}">
        <p14:creationId xmlns:p14="http://schemas.microsoft.com/office/powerpoint/2010/main" val="2048946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88718-92DE-2D3D-E5E6-F7239ADA41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A9DA04-D37D-B368-ECE0-17FE72EB07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C42D06-9646-8601-E35F-4DEE7BB9CCB2}"/>
              </a:ext>
            </a:extLst>
          </p:cNvPr>
          <p:cNvSpPr>
            <a:spLocks noGrp="1"/>
          </p:cNvSpPr>
          <p:nvPr>
            <p:ph type="dt" sz="half" idx="10"/>
          </p:nvPr>
        </p:nvSpPr>
        <p:spPr/>
        <p:txBody>
          <a:bodyPr/>
          <a:lstStyle/>
          <a:p>
            <a:fld id="{8EDB6A1E-E110-A546-95C3-7EA8531B9191}" type="datetimeFigureOut">
              <a:rPr lang="en-US" smtClean="0"/>
              <a:t>4/27/2026</a:t>
            </a:fld>
            <a:endParaRPr lang="en-US"/>
          </a:p>
        </p:txBody>
      </p:sp>
      <p:sp>
        <p:nvSpPr>
          <p:cNvPr id="5" name="Footer Placeholder 4">
            <a:extLst>
              <a:ext uri="{FF2B5EF4-FFF2-40B4-BE49-F238E27FC236}">
                <a16:creationId xmlns:a16="http://schemas.microsoft.com/office/drawing/2014/main" id="{A0961EFC-3FB5-E67F-8FA8-38226AECE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4C02E1-EDB3-E9CA-232A-2E11A9685AB6}"/>
              </a:ext>
            </a:extLst>
          </p:cNvPr>
          <p:cNvSpPr>
            <a:spLocks noGrp="1"/>
          </p:cNvSpPr>
          <p:nvPr>
            <p:ph type="sldNum" sz="quarter" idx="12"/>
          </p:nvPr>
        </p:nvSpPr>
        <p:spPr/>
        <p:txBody>
          <a:bodyPr/>
          <a:lstStyle/>
          <a:p>
            <a:fld id="{5B09677A-B66E-4C4B-9249-9B20534E01F1}" type="slidenum">
              <a:rPr lang="en-US" smtClean="0"/>
              <a:t>‹#›</a:t>
            </a:fld>
            <a:endParaRPr lang="en-US"/>
          </a:p>
        </p:txBody>
      </p:sp>
    </p:spTree>
    <p:extLst>
      <p:ext uri="{BB962C8B-B14F-4D97-AF65-F5344CB8AC3E}">
        <p14:creationId xmlns:p14="http://schemas.microsoft.com/office/powerpoint/2010/main" val="3271191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C598A2-A82C-AA6E-188D-8F4CBC84A8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C297D9-3A54-297D-5E96-3ABEC162F5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4CE5A8-238B-4203-AD98-7A3E185EAAEE}"/>
              </a:ext>
            </a:extLst>
          </p:cNvPr>
          <p:cNvSpPr>
            <a:spLocks noGrp="1"/>
          </p:cNvSpPr>
          <p:nvPr>
            <p:ph type="dt" sz="half" idx="10"/>
          </p:nvPr>
        </p:nvSpPr>
        <p:spPr/>
        <p:txBody>
          <a:bodyPr/>
          <a:lstStyle/>
          <a:p>
            <a:fld id="{8EDB6A1E-E110-A546-95C3-7EA8531B9191}" type="datetimeFigureOut">
              <a:rPr lang="en-US" smtClean="0"/>
              <a:t>4/27/2026</a:t>
            </a:fld>
            <a:endParaRPr lang="en-US"/>
          </a:p>
        </p:txBody>
      </p:sp>
      <p:sp>
        <p:nvSpPr>
          <p:cNvPr id="5" name="Footer Placeholder 4">
            <a:extLst>
              <a:ext uri="{FF2B5EF4-FFF2-40B4-BE49-F238E27FC236}">
                <a16:creationId xmlns:a16="http://schemas.microsoft.com/office/drawing/2014/main" id="{7675C2D3-31A0-6AEC-671A-E0A1262C34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3E2AE8-0CF3-4DB3-E9E8-F8391F2D9071}"/>
              </a:ext>
            </a:extLst>
          </p:cNvPr>
          <p:cNvSpPr>
            <a:spLocks noGrp="1"/>
          </p:cNvSpPr>
          <p:nvPr>
            <p:ph type="sldNum" sz="quarter" idx="12"/>
          </p:nvPr>
        </p:nvSpPr>
        <p:spPr/>
        <p:txBody>
          <a:bodyPr/>
          <a:lstStyle/>
          <a:p>
            <a:fld id="{5B09677A-B66E-4C4B-9249-9B20534E01F1}" type="slidenum">
              <a:rPr lang="en-US" smtClean="0"/>
              <a:t>‹#›</a:t>
            </a:fld>
            <a:endParaRPr lang="en-US"/>
          </a:p>
        </p:txBody>
      </p:sp>
    </p:spTree>
    <p:extLst>
      <p:ext uri="{BB962C8B-B14F-4D97-AF65-F5344CB8AC3E}">
        <p14:creationId xmlns:p14="http://schemas.microsoft.com/office/powerpoint/2010/main" val="798241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15440F-3742-0E4D-929A-3B9CBDF04C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173E68-1A4D-8C5E-D1E4-0C9C2F7CA2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FAA7CD-71B7-ECF2-817A-2E85002B33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DB6A1E-E110-A546-95C3-7EA8531B9191}" type="datetimeFigureOut">
              <a:rPr lang="en-US" smtClean="0"/>
              <a:t>4/27/2026</a:t>
            </a:fld>
            <a:endParaRPr lang="en-US"/>
          </a:p>
        </p:txBody>
      </p:sp>
      <p:sp>
        <p:nvSpPr>
          <p:cNvPr id="5" name="Footer Placeholder 4">
            <a:extLst>
              <a:ext uri="{FF2B5EF4-FFF2-40B4-BE49-F238E27FC236}">
                <a16:creationId xmlns:a16="http://schemas.microsoft.com/office/drawing/2014/main" id="{9B6DFD98-1885-B369-3C2B-B2354D53C9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BB64456-4DD9-DC5E-F73F-E2145B0FAE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09677A-B66E-4C4B-9249-9B20534E01F1}" type="slidenum">
              <a:rPr lang="en-US" smtClean="0"/>
              <a:t>‹#›</a:t>
            </a:fld>
            <a:endParaRPr lang="en-US"/>
          </a:p>
        </p:txBody>
      </p:sp>
    </p:spTree>
    <p:extLst>
      <p:ext uri="{BB962C8B-B14F-4D97-AF65-F5344CB8AC3E}">
        <p14:creationId xmlns:p14="http://schemas.microsoft.com/office/powerpoint/2010/main" val="2710195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descr="Programming data on computer monitor">
            <a:extLst>
              <a:ext uri="{FF2B5EF4-FFF2-40B4-BE49-F238E27FC236}">
                <a16:creationId xmlns:a16="http://schemas.microsoft.com/office/drawing/2014/main" id="{2C07861A-97AD-39C1-59F5-431C93D0740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15745" r="10927" b="-1"/>
          <a:stretch/>
        </p:blipFill>
        <p:spPr>
          <a:xfrm>
            <a:off x="4658284" y="10"/>
            <a:ext cx="7533716" cy="6857990"/>
          </a:xfrm>
          <a:custGeom>
            <a:avLst/>
            <a:gdLst/>
            <a:ahLst/>
            <a:cxnLst/>
            <a:rect l="l" t="t" r="r" b="b"/>
            <a:pathLst>
              <a:path w="7533716" h="6858000">
                <a:moveTo>
                  <a:pt x="879873" y="0"/>
                </a:moveTo>
                <a:lnTo>
                  <a:pt x="7533716" y="0"/>
                </a:lnTo>
                <a:lnTo>
                  <a:pt x="7533716" y="6858000"/>
                </a:lnTo>
                <a:lnTo>
                  <a:pt x="0" y="6858000"/>
                </a:lnTo>
                <a:lnTo>
                  <a:pt x="105162" y="6785068"/>
                </a:lnTo>
                <a:cubicBezTo>
                  <a:pt x="278980" y="6657407"/>
                  <a:pt x="449607" y="6519512"/>
                  <a:pt x="621811" y="6378742"/>
                </a:cubicBezTo>
                <a:cubicBezTo>
                  <a:pt x="1567435" y="5605738"/>
                  <a:pt x="2496160" y="4971185"/>
                  <a:pt x="2496160" y="3621913"/>
                </a:cubicBezTo>
                <a:cubicBezTo>
                  <a:pt x="2496160" y="2091411"/>
                  <a:pt x="1922424" y="751075"/>
                  <a:pt x="895262" y="10445"/>
                </a:cubicBezTo>
                <a:close/>
              </a:path>
            </a:pathLst>
          </a:custGeom>
        </p:spPr>
      </p:pic>
      <p:sp>
        <p:nvSpPr>
          <p:cNvPr id="12" name="Freeform: Shape 11">
            <a:extLst>
              <a:ext uri="{FF2B5EF4-FFF2-40B4-BE49-F238E27FC236}">
                <a16:creationId xmlns:a16="http://schemas.microsoft.com/office/drawing/2014/main" id="{F5A32A34-BDE9-4041-9CA3-2BC707CE7F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5746" cy="6858000"/>
          </a:xfrm>
          <a:custGeom>
            <a:avLst/>
            <a:gdLst>
              <a:gd name="connsiteX0" fmla="*/ 0 w 7475746"/>
              <a:gd name="connsiteY0" fmla="*/ 0 h 6858000"/>
              <a:gd name="connsiteX1" fmla="*/ 5859459 w 7475746"/>
              <a:gd name="connsiteY1" fmla="*/ 0 h 6858000"/>
              <a:gd name="connsiteX2" fmla="*/ 5874848 w 7475746"/>
              <a:gd name="connsiteY2" fmla="*/ 10445 h 6858000"/>
              <a:gd name="connsiteX3" fmla="*/ 7475746 w 7475746"/>
              <a:gd name="connsiteY3" fmla="*/ 3621913 h 6858000"/>
              <a:gd name="connsiteX4" fmla="*/ 5601397 w 7475746"/>
              <a:gd name="connsiteY4" fmla="*/ 6378742 h 6858000"/>
              <a:gd name="connsiteX5" fmla="*/ 5084748 w 7475746"/>
              <a:gd name="connsiteY5" fmla="*/ 6785068 h 6858000"/>
              <a:gd name="connsiteX6" fmla="*/ 4979585 w 7475746"/>
              <a:gd name="connsiteY6" fmla="*/ 6858000 h 6858000"/>
              <a:gd name="connsiteX7" fmla="*/ 0 w 747574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5746" h="6858000">
                <a:moveTo>
                  <a:pt x="0" y="0"/>
                </a:moveTo>
                <a:lnTo>
                  <a:pt x="5859459" y="0"/>
                </a:lnTo>
                <a:lnTo>
                  <a:pt x="5874848" y="10445"/>
                </a:lnTo>
                <a:cubicBezTo>
                  <a:pt x="6902010" y="751075"/>
                  <a:pt x="7475746" y="2091411"/>
                  <a:pt x="7475746" y="3621913"/>
                </a:cubicBezTo>
                <a:cubicBezTo>
                  <a:pt x="7475746" y="4971185"/>
                  <a:pt x="6547021" y="5605738"/>
                  <a:pt x="5601397" y="6378742"/>
                </a:cubicBezTo>
                <a:cubicBezTo>
                  <a:pt x="5429193" y="6519512"/>
                  <a:pt x="5258566" y="6657407"/>
                  <a:pt x="5084748" y="6785068"/>
                </a:cubicBezTo>
                <a:lnTo>
                  <a:pt x="4979585"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49DA1874-724A-41CC-8CC9-F9EAD4A86A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289611" cy="6858000"/>
          </a:xfrm>
          <a:custGeom>
            <a:avLst/>
            <a:gdLst>
              <a:gd name="connsiteX0" fmla="*/ 0 w 7289611"/>
              <a:gd name="connsiteY0" fmla="*/ 0 h 6858000"/>
              <a:gd name="connsiteX1" fmla="*/ 71559 w 7289611"/>
              <a:gd name="connsiteY1" fmla="*/ 0 h 6858000"/>
              <a:gd name="connsiteX2" fmla="*/ 135167 w 7289611"/>
              <a:gd name="connsiteY2" fmla="*/ 0 h 6858000"/>
              <a:gd name="connsiteX3" fmla="*/ 866689 w 7289611"/>
              <a:gd name="connsiteY3" fmla="*/ 0 h 6858000"/>
              <a:gd name="connsiteX4" fmla="*/ 1592911 w 7289611"/>
              <a:gd name="connsiteY4" fmla="*/ 0 h 6858000"/>
              <a:gd name="connsiteX5" fmla="*/ 5673324 w 7289611"/>
              <a:gd name="connsiteY5" fmla="*/ 0 h 6858000"/>
              <a:gd name="connsiteX6" fmla="*/ 5688713 w 7289611"/>
              <a:gd name="connsiteY6" fmla="*/ 10445 h 6858000"/>
              <a:gd name="connsiteX7" fmla="*/ 7289611 w 7289611"/>
              <a:gd name="connsiteY7" fmla="*/ 3621913 h 6858000"/>
              <a:gd name="connsiteX8" fmla="*/ 5415262 w 7289611"/>
              <a:gd name="connsiteY8" fmla="*/ 6378742 h 6858000"/>
              <a:gd name="connsiteX9" fmla="*/ 4898613 w 7289611"/>
              <a:gd name="connsiteY9" fmla="*/ 6785068 h 6858000"/>
              <a:gd name="connsiteX10" fmla="*/ 4793450 w 7289611"/>
              <a:gd name="connsiteY10" fmla="*/ 6858000 h 6858000"/>
              <a:gd name="connsiteX11" fmla="*/ 1592911 w 7289611"/>
              <a:gd name="connsiteY11" fmla="*/ 6858000 h 6858000"/>
              <a:gd name="connsiteX12" fmla="*/ 866689 w 7289611"/>
              <a:gd name="connsiteY12" fmla="*/ 6858000 h 6858000"/>
              <a:gd name="connsiteX13" fmla="*/ 135167 w 7289611"/>
              <a:gd name="connsiteY13" fmla="*/ 6858000 h 6858000"/>
              <a:gd name="connsiteX14" fmla="*/ 71559 w 7289611"/>
              <a:gd name="connsiteY14" fmla="*/ 6858000 h 6858000"/>
              <a:gd name="connsiteX15" fmla="*/ 0 w 7289611"/>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89611" h="6858000">
                <a:moveTo>
                  <a:pt x="0" y="0"/>
                </a:moveTo>
                <a:lnTo>
                  <a:pt x="71559" y="0"/>
                </a:lnTo>
                <a:lnTo>
                  <a:pt x="135167" y="0"/>
                </a:lnTo>
                <a:lnTo>
                  <a:pt x="866689" y="0"/>
                </a:lnTo>
                <a:lnTo>
                  <a:pt x="1592911" y="0"/>
                </a:lnTo>
                <a:lnTo>
                  <a:pt x="5673324" y="0"/>
                </a:lnTo>
                <a:lnTo>
                  <a:pt x="5688713" y="10445"/>
                </a:lnTo>
                <a:cubicBezTo>
                  <a:pt x="6715875" y="751075"/>
                  <a:pt x="7289611" y="2091411"/>
                  <a:pt x="7289611" y="3621913"/>
                </a:cubicBezTo>
                <a:cubicBezTo>
                  <a:pt x="7289611" y="4971185"/>
                  <a:pt x="6360886" y="5605738"/>
                  <a:pt x="5415262" y="6378742"/>
                </a:cubicBezTo>
                <a:cubicBezTo>
                  <a:pt x="5243058" y="6519512"/>
                  <a:pt x="5072431" y="6657407"/>
                  <a:pt x="4898613" y="6785068"/>
                </a:cubicBezTo>
                <a:lnTo>
                  <a:pt x="4793450" y="6858000"/>
                </a:lnTo>
                <a:lnTo>
                  <a:pt x="1592911" y="6858000"/>
                </a:lnTo>
                <a:lnTo>
                  <a:pt x="866689" y="6858000"/>
                </a:lnTo>
                <a:lnTo>
                  <a:pt x="135167" y="6858000"/>
                </a:lnTo>
                <a:lnTo>
                  <a:pt x="71559" y="6858000"/>
                </a:lnTo>
                <a:lnTo>
                  <a:pt x="0" y="6858000"/>
                </a:lnTo>
                <a:close/>
              </a:path>
            </a:pathLst>
          </a:cu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Meiryo"/>
            </a:endParaRPr>
          </a:p>
        </p:txBody>
      </p:sp>
      <p:sp>
        <p:nvSpPr>
          <p:cNvPr id="16" name="Freeform: Shape 15">
            <a:extLst>
              <a:ext uri="{FF2B5EF4-FFF2-40B4-BE49-F238E27FC236}">
                <a16:creationId xmlns:a16="http://schemas.microsoft.com/office/drawing/2014/main" id="{FBA7E51E-7B6A-4A79-8F84-47C845C7A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98368"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087AAA9E-81C8-F76D-06A3-9DC396368457}"/>
              </a:ext>
            </a:extLst>
          </p:cNvPr>
          <p:cNvSpPr>
            <a:spLocks noGrp="1"/>
          </p:cNvSpPr>
          <p:nvPr>
            <p:ph type="ctrTitle"/>
          </p:nvPr>
        </p:nvSpPr>
        <p:spPr>
          <a:xfrm>
            <a:off x="1180531" y="1346268"/>
            <a:ext cx="5274860" cy="3066706"/>
          </a:xfrm>
        </p:spPr>
        <p:txBody>
          <a:bodyPr anchor="b">
            <a:normAutofit/>
          </a:bodyPr>
          <a:lstStyle/>
          <a:p>
            <a:pPr marL="0" marR="0" algn="l">
              <a:spcBef>
                <a:spcPts val="0"/>
              </a:spcBef>
              <a:spcAft>
                <a:spcPts val="0"/>
              </a:spcAft>
            </a:pPr>
            <a:r>
              <a:rPr lang="en-US" sz="5100" b="1" kern="100">
                <a:effectLst/>
                <a:latin typeface="Calibri" panose="020F0502020204030204" pitchFamily="34" charset="0"/>
                <a:ea typeface="Calibri" panose="020F0502020204030204" pitchFamily="34" charset="0"/>
                <a:cs typeface="Times New Roman" panose="02020603050405020304" pitchFamily="18" charset="0"/>
              </a:rPr>
              <a:t>Security Configurations for Wireless Network</a:t>
            </a:r>
            <a:endParaRPr lang="en-US" sz="5100"/>
          </a:p>
        </p:txBody>
      </p:sp>
      <p:sp>
        <p:nvSpPr>
          <p:cNvPr id="3" name="Subtitle 2">
            <a:extLst>
              <a:ext uri="{FF2B5EF4-FFF2-40B4-BE49-F238E27FC236}">
                <a16:creationId xmlns:a16="http://schemas.microsoft.com/office/drawing/2014/main" id="{E833B301-4510-9799-856A-EA4430421064}"/>
              </a:ext>
            </a:extLst>
          </p:cNvPr>
          <p:cNvSpPr>
            <a:spLocks noGrp="1"/>
          </p:cNvSpPr>
          <p:nvPr>
            <p:ph type="subTitle" idx="1"/>
          </p:nvPr>
        </p:nvSpPr>
        <p:spPr>
          <a:xfrm>
            <a:off x="1201212" y="4490112"/>
            <a:ext cx="4162357" cy="1499049"/>
          </a:xfrm>
        </p:spPr>
        <p:txBody>
          <a:bodyPr anchor="t">
            <a:normAutofit/>
          </a:bodyPr>
          <a:lstStyle/>
          <a:p>
            <a:pPr algn="l"/>
            <a:r>
              <a:rPr lang="en-US" sz="1700" kern="100">
                <a:effectLst/>
                <a:latin typeface="Calibri" panose="020F0502020204030204" pitchFamily="34" charset="0"/>
                <a:ea typeface="Calibri" panose="020F0502020204030204" pitchFamily="34" charset="0"/>
                <a:cs typeface="Times New Roman" panose="02020603050405020304" pitchFamily="18" charset="0"/>
              </a:rPr>
              <a:t>Jesse Missaghian</a:t>
            </a:r>
            <a:br>
              <a:rPr lang="en-US" sz="1700" kern="100">
                <a:effectLst/>
                <a:latin typeface="Calibri" panose="020F0502020204030204" pitchFamily="34" charset="0"/>
                <a:ea typeface="Calibri" panose="020F0502020204030204" pitchFamily="34" charset="0"/>
                <a:cs typeface="Times New Roman" panose="02020603050405020304" pitchFamily="18" charset="0"/>
              </a:rPr>
            </a:br>
            <a:r>
              <a:rPr lang="en-US" sz="1700" kern="100">
                <a:effectLst/>
                <a:latin typeface="Calibri" panose="020F0502020204030204" pitchFamily="34" charset="0"/>
                <a:ea typeface="Calibri" panose="020F0502020204030204" pitchFamily="34" charset="0"/>
                <a:cs typeface="Times New Roman" panose="02020603050405020304" pitchFamily="18" charset="0"/>
              </a:rPr>
              <a:t>University of Phoenix </a:t>
            </a:r>
            <a:br>
              <a:rPr lang="en-US" sz="1700" kern="100">
                <a:effectLst/>
                <a:latin typeface="Calibri" panose="020F0502020204030204" pitchFamily="34" charset="0"/>
                <a:ea typeface="Calibri" panose="020F0502020204030204" pitchFamily="34" charset="0"/>
                <a:cs typeface="Times New Roman" panose="02020603050405020304" pitchFamily="18" charset="0"/>
              </a:rPr>
            </a:br>
            <a:r>
              <a:rPr lang="en-US" sz="1700" kern="100">
                <a:effectLst/>
                <a:latin typeface="Calibri" panose="020F0502020204030204" pitchFamily="34" charset="0"/>
                <a:ea typeface="Calibri" panose="020F0502020204030204" pitchFamily="34" charset="0"/>
                <a:cs typeface="Times New Roman" panose="02020603050405020304" pitchFamily="18" charset="0"/>
              </a:rPr>
              <a:t>CYB/360: Wireless Security</a:t>
            </a:r>
            <a:br>
              <a:rPr lang="en-US" sz="1700" kern="100">
                <a:effectLst/>
                <a:latin typeface="Calibri" panose="020F0502020204030204" pitchFamily="34" charset="0"/>
                <a:ea typeface="Calibri" panose="020F0502020204030204" pitchFamily="34" charset="0"/>
                <a:cs typeface="Times New Roman" panose="02020603050405020304" pitchFamily="18" charset="0"/>
              </a:rPr>
            </a:br>
            <a:r>
              <a:rPr lang="en-US" sz="1700" kern="100">
                <a:effectLst/>
                <a:latin typeface="Calibri" panose="020F0502020204030204" pitchFamily="34" charset="0"/>
                <a:ea typeface="Calibri" panose="020F0502020204030204" pitchFamily="34" charset="0"/>
                <a:cs typeface="Times New Roman" panose="02020603050405020304" pitchFamily="18" charset="0"/>
              </a:rPr>
              <a:t>Jason </a:t>
            </a:r>
            <a:r>
              <a:rPr lang="en-US" sz="1700" kern="100" err="1">
                <a:effectLst/>
                <a:latin typeface="Calibri" panose="020F0502020204030204" pitchFamily="34" charset="0"/>
                <a:ea typeface="Calibri" panose="020F0502020204030204" pitchFamily="34" charset="0"/>
                <a:cs typeface="Times New Roman" panose="02020603050405020304" pitchFamily="18" charset="0"/>
              </a:rPr>
              <a:t>Cupano</a:t>
            </a:r>
            <a:br>
              <a:rPr lang="en-US" sz="1700" kern="100">
                <a:effectLst/>
                <a:latin typeface="Calibri" panose="020F0502020204030204" pitchFamily="34" charset="0"/>
                <a:ea typeface="Calibri" panose="020F0502020204030204" pitchFamily="34" charset="0"/>
                <a:cs typeface="Times New Roman" panose="02020603050405020304" pitchFamily="18" charset="0"/>
              </a:rPr>
            </a:br>
            <a:r>
              <a:rPr lang="en-US" sz="1700" kern="100">
                <a:effectLst/>
                <a:latin typeface="Calibri" panose="020F0502020204030204" pitchFamily="34" charset="0"/>
                <a:ea typeface="Calibri" panose="020F0502020204030204" pitchFamily="34" charset="0"/>
                <a:cs typeface="Times New Roman" panose="02020603050405020304" pitchFamily="18" charset="0"/>
              </a:rPr>
              <a:t>12/18/2023</a:t>
            </a:r>
            <a:br>
              <a:rPr lang="en-US" sz="1700" kern="100">
                <a:effectLst/>
                <a:latin typeface="Calibri" panose="020F0502020204030204" pitchFamily="34" charset="0"/>
                <a:ea typeface="Calibri" panose="020F0502020204030204" pitchFamily="34" charset="0"/>
                <a:cs typeface="Times New Roman" panose="02020603050405020304" pitchFamily="18" charset="0"/>
              </a:rPr>
            </a:br>
            <a:endParaRPr lang="en-US" sz="1700"/>
          </a:p>
        </p:txBody>
      </p:sp>
    </p:spTree>
    <p:extLst>
      <p:ext uri="{BB962C8B-B14F-4D97-AF65-F5344CB8AC3E}">
        <p14:creationId xmlns:p14="http://schemas.microsoft.com/office/powerpoint/2010/main" val="1360267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0BD00E-B8BF-444D-92FE-99FBBE8EA45B}"/>
              </a:ext>
            </a:extLst>
          </p:cNvPr>
          <p:cNvSpPr>
            <a:spLocks noGrp="1"/>
          </p:cNvSpPr>
          <p:nvPr>
            <p:ph type="title"/>
          </p:nvPr>
        </p:nvSpPr>
        <p:spPr>
          <a:xfrm>
            <a:off x="640080" y="325369"/>
            <a:ext cx="4368602" cy="1956841"/>
          </a:xfrm>
        </p:spPr>
        <p:txBody>
          <a:bodyPr anchor="b">
            <a:normAutofit/>
          </a:bodyPr>
          <a:lstStyle/>
          <a:p>
            <a:r>
              <a:rPr lang="en-US" sz="5400">
                <a:effectLst/>
                <a:latin typeface="Calibri" panose="020F0502020204030204" pitchFamily="34" charset="0"/>
                <a:ea typeface="Calibri" panose="020F0502020204030204" pitchFamily="34" charset="0"/>
                <a:cs typeface="Times New Roman" panose="02020603050405020304" pitchFamily="18" charset="0"/>
              </a:rPr>
              <a:t>Securing Our Digital Horizon</a:t>
            </a:r>
            <a:r>
              <a:rPr lang="en-US" sz="5400">
                <a:effectLst/>
              </a:rPr>
              <a:t> </a:t>
            </a:r>
            <a:endParaRPr lang="en-US" sz="5400"/>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9C02DD2-991D-3C74-1A76-AD1BBBAD4182}"/>
              </a:ext>
            </a:extLst>
          </p:cNvPr>
          <p:cNvSpPr>
            <a:spLocks noGrp="1"/>
          </p:cNvSpPr>
          <p:nvPr>
            <p:ph idx="1"/>
          </p:nvPr>
        </p:nvSpPr>
        <p:spPr>
          <a:xfrm>
            <a:off x="640080" y="2872899"/>
            <a:ext cx="4243589" cy="3320668"/>
          </a:xfrm>
        </p:spPr>
        <p:txBody>
          <a:bodyPr>
            <a:normAutofit/>
          </a:bodyPr>
          <a:lstStyle/>
          <a:p>
            <a:pPr marL="342900" marR="0" lvl="0" indent="-342900">
              <a:spcBef>
                <a:spcPts val="0"/>
              </a:spcBef>
              <a:spcAft>
                <a:spcPts val="0"/>
              </a:spcAft>
              <a:buFont typeface="Symbol" pitchFamily="2" charset="2"/>
              <a:buChar char=""/>
            </a:pPr>
            <a:r>
              <a:rPr lang="en-US" sz="2200" kern="100">
                <a:effectLst/>
                <a:latin typeface="Calibri" panose="020F0502020204030204" pitchFamily="34" charset="0"/>
                <a:ea typeface="Calibri" panose="020F0502020204030204" pitchFamily="34" charset="0"/>
                <a:cs typeface="Times New Roman" panose="02020603050405020304" pitchFamily="18" charset="0"/>
              </a:rPr>
              <a:t>Unveiling the Blueprint of Enhanced Wireless Security</a:t>
            </a:r>
          </a:p>
          <a:p>
            <a:pPr marL="342900" marR="0" lvl="0" indent="-342900">
              <a:spcBef>
                <a:spcPts val="0"/>
              </a:spcBef>
              <a:spcAft>
                <a:spcPts val="0"/>
              </a:spcAft>
              <a:buFont typeface="Symbol" pitchFamily="2" charset="2"/>
              <a:buChar char=""/>
            </a:pPr>
            <a:r>
              <a:rPr lang="en-US" sz="2200" kern="100">
                <a:effectLst/>
                <a:latin typeface="Calibri" panose="020F0502020204030204" pitchFamily="34" charset="0"/>
                <a:ea typeface="Calibri" panose="020F0502020204030204" pitchFamily="34" charset="0"/>
                <a:cs typeface="Times New Roman" panose="02020603050405020304" pitchFamily="18" charset="0"/>
              </a:rPr>
              <a:t>Dissecting Vulnerabilities and Reinforcing Defenses</a:t>
            </a:r>
          </a:p>
          <a:p>
            <a:pPr marL="342900" marR="0" lvl="0" indent="-342900">
              <a:spcBef>
                <a:spcPts val="0"/>
              </a:spcBef>
              <a:spcAft>
                <a:spcPts val="0"/>
              </a:spcAft>
              <a:buFont typeface="Symbol" pitchFamily="2" charset="2"/>
              <a:buChar char=""/>
            </a:pPr>
            <a:r>
              <a:rPr lang="en-US" sz="2200" kern="100">
                <a:effectLst/>
                <a:latin typeface="Calibri" panose="020F0502020204030204" pitchFamily="34" charset="0"/>
                <a:ea typeface="Calibri" panose="020F0502020204030204" pitchFamily="34" charset="0"/>
                <a:cs typeface="Times New Roman" panose="02020603050405020304" pitchFamily="18" charset="0"/>
              </a:rPr>
              <a:t>Strategic Device Deployment for Optimal Protection</a:t>
            </a:r>
          </a:p>
          <a:p>
            <a:pPr marL="342900" marR="0" lvl="0" indent="-342900">
              <a:spcBef>
                <a:spcPts val="0"/>
              </a:spcBef>
              <a:spcAft>
                <a:spcPts val="0"/>
              </a:spcAft>
              <a:buFont typeface="Symbol" pitchFamily="2" charset="2"/>
              <a:buChar char=""/>
            </a:pPr>
            <a:r>
              <a:rPr lang="en-US" sz="2200" kern="100">
                <a:effectLst/>
                <a:latin typeface="Calibri" panose="020F0502020204030204" pitchFamily="34" charset="0"/>
                <a:ea typeface="Calibri" panose="020F0502020204030204" pitchFamily="34" charset="0"/>
                <a:cs typeface="Times New Roman" panose="02020603050405020304" pitchFamily="18" charset="0"/>
              </a:rPr>
              <a:t>Elevating Encryption and Authentication Standards</a:t>
            </a:r>
          </a:p>
          <a:p>
            <a:pPr marL="342900" marR="0" lvl="0" indent="-342900">
              <a:spcBef>
                <a:spcPts val="0"/>
              </a:spcBef>
              <a:spcAft>
                <a:spcPts val="0"/>
              </a:spcAft>
              <a:buFont typeface="Symbol" pitchFamily="2" charset="2"/>
              <a:buChar char=""/>
            </a:pPr>
            <a:r>
              <a:rPr lang="en-US" sz="2200" kern="100">
                <a:effectLst/>
                <a:latin typeface="Calibri" panose="020F0502020204030204" pitchFamily="34" charset="0"/>
                <a:ea typeface="Calibri" panose="020F0502020204030204" pitchFamily="34" charset="0"/>
                <a:cs typeface="Times New Roman" panose="02020603050405020304" pitchFamily="18" charset="0"/>
              </a:rPr>
              <a:t>Realizing a Future-Proof and Resilient Network</a:t>
            </a:r>
          </a:p>
          <a:p>
            <a:endParaRPr lang="en-US" sz="2200"/>
          </a:p>
        </p:txBody>
      </p:sp>
      <p:pic>
        <p:nvPicPr>
          <p:cNvPr id="5" name="Picture 4" descr="A close-up of hands pointing at a blueprint&#10;&#10;Description automatically generated">
            <a:extLst>
              <a:ext uri="{FF2B5EF4-FFF2-40B4-BE49-F238E27FC236}">
                <a16:creationId xmlns:a16="http://schemas.microsoft.com/office/drawing/2014/main" id="{79A4BB38-57E9-CAAE-B787-41178CD0B4E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6353" r="8420"/>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102748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5ECE61-B254-9D4D-6E90-100E1B958413}"/>
              </a:ext>
            </a:extLst>
          </p:cNvPr>
          <p:cNvSpPr>
            <a:spLocks noGrp="1"/>
          </p:cNvSpPr>
          <p:nvPr>
            <p:ph type="title"/>
          </p:nvPr>
        </p:nvSpPr>
        <p:spPr>
          <a:xfrm>
            <a:off x="481013" y="3752849"/>
            <a:ext cx="3290887" cy="2452687"/>
          </a:xfrm>
        </p:spPr>
        <p:txBody>
          <a:bodyPr anchor="ctr">
            <a:normAutofit/>
          </a:bodyPr>
          <a:lstStyle/>
          <a:p>
            <a:r>
              <a:rPr lang="en-US" sz="3300">
                <a:effectLst/>
                <a:latin typeface="Calibri" panose="020F0502020204030204" pitchFamily="34" charset="0"/>
                <a:ea typeface="Calibri" panose="020F0502020204030204" pitchFamily="34" charset="0"/>
                <a:cs typeface="Times New Roman" panose="02020603050405020304" pitchFamily="18" charset="0"/>
              </a:rPr>
              <a:t>Guarding the Airwaves: Wireless Security Imperatives</a:t>
            </a:r>
            <a:r>
              <a:rPr lang="en-US" sz="3300">
                <a:effectLst/>
              </a:rPr>
              <a:t> </a:t>
            </a:r>
            <a:endParaRPr lang="en-US" sz="3300"/>
          </a:p>
        </p:txBody>
      </p:sp>
      <p:pic>
        <p:nvPicPr>
          <p:cNvPr id="3" name="Picture 2" descr="A cityscape with a network of icons&#10;&#10;Description automatically generated with medium confidence">
            <a:extLst>
              <a:ext uri="{FF2B5EF4-FFF2-40B4-BE49-F238E27FC236}">
                <a16:creationId xmlns:a16="http://schemas.microsoft.com/office/drawing/2014/main" id="{24D5D0D5-5F44-C183-A910-45F28658C51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t="47830" b="5347"/>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5" name="Content Placeholder 4">
            <a:extLst>
              <a:ext uri="{FF2B5EF4-FFF2-40B4-BE49-F238E27FC236}">
                <a16:creationId xmlns:a16="http://schemas.microsoft.com/office/drawing/2014/main" id="{55B89D86-9503-8FF5-F25A-929768FA5256}"/>
              </a:ext>
            </a:extLst>
          </p:cNvPr>
          <p:cNvSpPr>
            <a:spLocks noGrp="1"/>
          </p:cNvSpPr>
          <p:nvPr>
            <p:ph idx="1"/>
          </p:nvPr>
        </p:nvSpPr>
        <p:spPr>
          <a:xfrm>
            <a:off x="4223982" y="3752850"/>
            <a:ext cx="7485413" cy="2452687"/>
          </a:xfrm>
        </p:spPr>
        <p:txBody>
          <a:bodyPr anchor="ctr">
            <a:normAutofit/>
          </a:bodyPr>
          <a:lstStyle/>
          <a:p>
            <a:pPr marL="342900" marR="0" lvl="0" indent="-342900">
              <a:spcBef>
                <a:spcPts val="0"/>
              </a:spcBef>
              <a:spcAft>
                <a:spcPts val="600"/>
              </a:spcAft>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Combatting Eavesdropping with AES in WPA3</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Reinforcing Network Gates Against Intruders</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Shielding Data from MITM Attacks with HTTPS and PMF</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72630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339E86-46B2-9BFA-D96B-70FF0366C0BA}"/>
              </a:ext>
            </a:extLst>
          </p:cNvPr>
          <p:cNvSpPr>
            <a:spLocks noGrp="1"/>
          </p:cNvSpPr>
          <p:nvPr>
            <p:ph type="title"/>
          </p:nvPr>
        </p:nvSpPr>
        <p:spPr>
          <a:xfrm>
            <a:off x="640080" y="4777739"/>
            <a:ext cx="3418990" cy="1412119"/>
          </a:xfrm>
        </p:spPr>
        <p:txBody>
          <a:bodyPr>
            <a:normAutofit/>
          </a:bodyPr>
          <a:lstStyle/>
          <a:p>
            <a:r>
              <a:rPr lang="en-US" sz="4100">
                <a:effectLst/>
                <a:latin typeface="Calibri" panose="020F0502020204030204" pitchFamily="34" charset="0"/>
                <a:ea typeface="Calibri" panose="020F0502020204030204" pitchFamily="34" charset="0"/>
                <a:cs typeface="Times New Roman" panose="02020603050405020304" pitchFamily="18" charset="0"/>
              </a:rPr>
              <a:t>Fortifying the Wireless Realm</a:t>
            </a:r>
            <a:r>
              <a:rPr lang="en-US" sz="4100">
                <a:effectLst/>
              </a:rPr>
              <a:t> </a:t>
            </a:r>
            <a:endParaRPr lang="en-US" sz="4100"/>
          </a:p>
        </p:txBody>
      </p:sp>
      <p:pic>
        <p:nvPicPr>
          <p:cNvPr id="5" name="Picture 4" descr="A person holding a glowing person's hand&#10;&#10;Description automatically generated">
            <a:extLst>
              <a:ext uri="{FF2B5EF4-FFF2-40B4-BE49-F238E27FC236}">
                <a16:creationId xmlns:a16="http://schemas.microsoft.com/office/drawing/2014/main" id="{75DD5057-3788-8F57-210F-D1B52EA3B168}"/>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t="5555" b="14895"/>
          <a:stretch/>
        </p:blipFill>
        <p:spPr>
          <a:xfrm>
            <a:off x="20" y="10"/>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15"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61305" y="5468206"/>
            <a:ext cx="1371600" cy="18288"/>
          </a:xfrm>
          <a:custGeom>
            <a:avLst/>
            <a:gdLst>
              <a:gd name="csX0" fmla="*/ 0 w 1371600"/>
              <a:gd name="csY0" fmla="*/ 0 h 18288"/>
              <a:gd name="csX1" fmla="*/ 685800 w 1371600"/>
              <a:gd name="csY1" fmla="*/ 0 h 18288"/>
              <a:gd name="csX2" fmla="*/ 1371600 w 1371600"/>
              <a:gd name="csY2" fmla="*/ 0 h 18288"/>
              <a:gd name="csX3" fmla="*/ 1371600 w 1371600"/>
              <a:gd name="csY3" fmla="*/ 18288 h 18288"/>
              <a:gd name="csX4" fmla="*/ 713232 w 1371600"/>
              <a:gd name="csY4" fmla="*/ 18288 h 18288"/>
              <a:gd name="csX5" fmla="*/ 0 w 1371600"/>
              <a:gd name="csY5" fmla="*/ 18288 h 18288"/>
              <a:gd name="csX6" fmla="*/ 0 w 1371600"/>
              <a:gd name="csY6" fmla="*/ 0 h 182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71600" h="18288" fill="none" extrusionOk="0">
                <a:moveTo>
                  <a:pt x="0" y="0"/>
                </a:moveTo>
                <a:cubicBezTo>
                  <a:pt x="247303" y="31625"/>
                  <a:pt x="422310" y="-25629"/>
                  <a:pt x="685800" y="0"/>
                </a:cubicBezTo>
                <a:cubicBezTo>
                  <a:pt x="949290" y="25629"/>
                  <a:pt x="1192357" y="6696"/>
                  <a:pt x="1371600" y="0"/>
                </a:cubicBezTo>
                <a:cubicBezTo>
                  <a:pt x="1371355" y="6649"/>
                  <a:pt x="1371915" y="11310"/>
                  <a:pt x="1371600" y="18288"/>
                </a:cubicBezTo>
                <a:cubicBezTo>
                  <a:pt x="1107995" y="26464"/>
                  <a:pt x="1033361" y="32942"/>
                  <a:pt x="713232" y="18288"/>
                </a:cubicBezTo>
                <a:cubicBezTo>
                  <a:pt x="393103" y="3634"/>
                  <a:pt x="289343" y="43221"/>
                  <a:pt x="0" y="18288"/>
                </a:cubicBezTo>
                <a:cubicBezTo>
                  <a:pt x="-459" y="11562"/>
                  <a:pt x="-31" y="5093"/>
                  <a:pt x="0" y="0"/>
                </a:cubicBezTo>
                <a:close/>
              </a:path>
              <a:path w="1371600" h="18288" stroke="0" extrusionOk="0">
                <a:moveTo>
                  <a:pt x="0" y="0"/>
                </a:moveTo>
                <a:cubicBezTo>
                  <a:pt x="170249" y="-24099"/>
                  <a:pt x="504634" y="14338"/>
                  <a:pt x="644652" y="0"/>
                </a:cubicBezTo>
                <a:cubicBezTo>
                  <a:pt x="784670" y="-14338"/>
                  <a:pt x="1087773" y="8679"/>
                  <a:pt x="1371600" y="0"/>
                </a:cubicBezTo>
                <a:cubicBezTo>
                  <a:pt x="1372456" y="3662"/>
                  <a:pt x="1371030" y="13946"/>
                  <a:pt x="1371600" y="18288"/>
                </a:cubicBezTo>
                <a:cubicBezTo>
                  <a:pt x="1176823" y="-1409"/>
                  <a:pt x="900830" y="9989"/>
                  <a:pt x="713232" y="18288"/>
                </a:cubicBezTo>
                <a:cubicBezTo>
                  <a:pt x="525634" y="26587"/>
                  <a:pt x="282837" y="5724"/>
                  <a:pt x="0" y="18288"/>
                </a:cubicBezTo>
                <a:cubicBezTo>
                  <a:pt x="367" y="13143"/>
                  <a:pt x="-823" y="584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81B7093-0B96-C0C9-6684-4B3CF2907403}"/>
              </a:ext>
            </a:extLst>
          </p:cNvPr>
          <p:cNvSpPr>
            <a:spLocks noGrp="1"/>
          </p:cNvSpPr>
          <p:nvPr>
            <p:ph idx="1"/>
          </p:nvPr>
        </p:nvSpPr>
        <p:spPr>
          <a:xfrm>
            <a:off x="4654294" y="4777739"/>
            <a:ext cx="6897626" cy="1399223"/>
          </a:xfrm>
        </p:spPr>
        <p:txBody>
          <a:bodyPr anchor="ctr">
            <a:normAutofit/>
          </a:bodyPr>
          <a:lstStyle/>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Crafting Digital Barriers with VLANs for HR Data</a:t>
            </a:r>
          </a:p>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Taming Wireless Signal Spillage with Directional Antennas</a:t>
            </a:r>
          </a:p>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Rigorous Network Health Checks through Security Audits</a:t>
            </a:r>
          </a:p>
        </p:txBody>
      </p:sp>
    </p:spTree>
    <p:extLst>
      <p:ext uri="{BB962C8B-B14F-4D97-AF65-F5344CB8AC3E}">
        <p14:creationId xmlns:p14="http://schemas.microsoft.com/office/powerpoint/2010/main" val="3825142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dice with lock symbols&#10;&#10;Description automatically generated">
            <a:extLst>
              <a:ext uri="{FF2B5EF4-FFF2-40B4-BE49-F238E27FC236}">
                <a16:creationId xmlns:a16="http://schemas.microsoft.com/office/drawing/2014/main" id="{980D2BA9-479E-8BE0-9A05-D68EEE96E40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r="5882" b="-1"/>
          <a:stretch/>
        </p:blipFill>
        <p:spPr>
          <a:xfrm>
            <a:off x="2522356" y="10"/>
            <a:ext cx="9669642"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FE9DA58-71AF-0126-9CD5-1EACDF53CF86}"/>
              </a:ext>
            </a:extLst>
          </p:cNvPr>
          <p:cNvSpPr>
            <a:spLocks noGrp="1"/>
          </p:cNvSpPr>
          <p:nvPr>
            <p:ph type="title"/>
          </p:nvPr>
        </p:nvSpPr>
        <p:spPr>
          <a:xfrm>
            <a:off x="838200" y="365125"/>
            <a:ext cx="3822189" cy="1899912"/>
          </a:xfrm>
        </p:spPr>
        <p:txBody>
          <a:bodyPr>
            <a:normAutofit/>
          </a:bodyPr>
          <a:lstStyle/>
          <a:p>
            <a:r>
              <a:rPr lang="en-US" sz="4000">
                <a:effectLst/>
                <a:latin typeface="Calibri" panose="020F0502020204030204" pitchFamily="34" charset="0"/>
                <a:ea typeface="Calibri" panose="020F0502020204030204" pitchFamily="34" charset="0"/>
                <a:cs typeface="Times New Roman" panose="02020603050405020304" pitchFamily="18" charset="0"/>
              </a:rPr>
              <a:t>Probing the Network's Shield</a:t>
            </a:r>
            <a:r>
              <a:rPr lang="en-US" sz="4000">
                <a:effectLst/>
              </a:rPr>
              <a:t> </a:t>
            </a:r>
            <a:endParaRPr lang="en-US" sz="4000"/>
          </a:p>
        </p:txBody>
      </p:sp>
      <p:sp>
        <p:nvSpPr>
          <p:cNvPr id="3" name="Content Placeholder 2">
            <a:extLst>
              <a:ext uri="{FF2B5EF4-FFF2-40B4-BE49-F238E27FC236}">
                <a16:creationId xmlns:a16="http://schemas.microsoft.com/office/drawing/2014/main" id="{9BDED789-5367-BFCE-A7C0-B34102E03972}"/>
              </a:ext>
            </a:extLst>
          </p:cNvPr>
          <p:cNvSpPr>
            <a:spLocks noGrp="1"/>
          </p:cNvSpPr>
          <p:nvPr>
            <p:ph idx="1"/>
          </p:nvPr>
        </p:nvSpPr>
        <p:spPr>
          <a:xfrm>
            <a:off x="838200" y="2434201"/>
            <a:ext cx="3822189" cy="3742762"/>
          </a:xfrm>
        </p:spPr>
        <p:txBody>
          <a:bodyPr>
            <a:normAutofit/>
          </a:bodyPr>
          <a:lstStyle/>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Scouring for Weaknesses with Nessus</a:t>
            </a:r>
          </a:p>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Enveloping HR Communications in TLS Encryption</a:t>
            </a:r>
          </a:p>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Retrofitting the Network's Armor</a:t>
            </a:r>
          </a:p>
        </p:txBody>
      </p:sp>
    </p:spTree>
    <p:extLst>
      <p:ext uri="{BB962C8B-B14F-4D97-AF65-F5344CB8AC3E}">
        <p14:creationId xmlns:p14="http://schemas.microsoft.com/office/powerpoint/2010/main" val="236526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hand touching a virtual screen&#10;&#10;Description automatically generated">
            <a:extLst>
              <a:ext uri="{FF2B5EF4-FFF2-40B4-BE49-F238E27FC236}">
                <a16:creationId xmlns:a16="http://schemas.microsoft.com/office/drawing/2014/main" id="{BE7289B0-10F3-0F14-47F9-04574F9B2DB9}"/>
              </a:ext>
            </a:extLst>
          </p:cNvPr>
          <p:cNvPicPr>
            <a:picLocks noChangeAspect="1"/>
          </p:cNvPicPr>
          <p:nvPr/>
        </p:nvPicPr>
        <p:blipFill rotWithShape="1">
          <a:blip r:embed="rId3" cstate="email">
            <a:alphaModFix amt="60000"/>
            <a:extLst>
              <a:ext uri="{28A0092B-C50C-407E-A947-70E740481C1C}">
                <a14:useLocalDpi xmlns:a14="http://schemas.microsoft.com/office/drawing/2010/main"/>
              </a:ext>
            </a:extLst>
          </a:blip>
          <a:srcRect l="405" r="-1" b="-1"/>
          <a:stretch/>
        </p:blipFill>
        <p:spPr>
          <a:xfrm>
            <a:off x="180975" y="182880"/>
            <a:ext cx="11823637" cy="6499784"/>
          </a:xfrm>
          <a:prstGeom prst="rect">
            <a:avLst/>
          </a:prstGeom>
        </p:spPr>
      </p:pic>
      <p:sp>
        <p:nvSpPr>
          <p:cNvPr id="2" name="Title 1">
            <a:extLst>
              <a:ext uri="{FF2B5EF4-FFF2-40B4-BE49-F238E27FC236}">
                <a16:creationId xmlns:a16="http://schemas.microsoft.com/office/drawing/2014/main" id="{1C39C902-FDD0-510A-54BD-E39A8C81402A}"/>
              </a:ext>
            </a:extLst>
          </p:cNvPr>
          <p:cNvSpPr>
            <a:spLocks noGrp="1"/>
          </p:cNvSpPr>
          <p:nvPr>
            <p:ph type="title"/>
          </p:nvPr>
        </p:nvSpPr>
        <p:spPr>
          <a:xfrm>
            <a:off x="838200" y="525195"/>
            <a:ext cx="10165218" cy="2806506"/>
          </a:xfrm>
        </p:spPr>
        <p:txBody>
          <a:bodyPr anchor="b">
            <a:normAutofit/>
          </a:bodyPr>
          <a:lstStyle/>
          <a:p>
            <a:r>
              <a:rPr lang="en-US" sz="40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Strengthening the Network's Backbone</a:t>
            </a:r>
            <a:r>
              <a:rPr lang="en-US" sz="4000">
                <a:solidFill>
                  <a:srgbClr val="FFFFFF"/>
                </a:solidFill>
                <a:effectLst/>
              </a:rPr>
              <a:t> </a:t>
            </a:r>
            <a:endParaRPr lang="en-US" sz="4000">
              <a:solidFill>
                <a:srgbClr val="FFFFFF"/>
              </a:solidFill>
            </a:endParaRPr>
          </a:p>
        </p:txBody>
      </p:sp>
      <p:sp>
        <p:nvSpPr>
          <p:cNvPr id="3" name="Content Placeholder 2">
            <a:extLst>
              <a:ext uri="{FF2B5EF4-FFF2-40B4-BE49-F238E27FC236}">
                <a16:creationId xmlns:a16="http://schemas.microsoft.com/office/drawing/2014/main" id="{7EDDFF56-7ED4-4DD2-C302-5F5F88F1F956}"/>
              </a:ext>
            </a:extLst>
          </p:cNvPr>
          <p:cNvSpPr>
            <a:spLocks noGrp="1"/>
          </p:cNvSpPr>
          <p:nvPr>
            <p:ph idx="1"/>
          </p:nvPr>
        </p:nvSpPr>
        <p:spPr>
          <a:xfrm>
            <a:off x="838200" y="3526300"/>
            <a:ext cx="10165218" cy="2588458"/>
          </a:xfrm>
        </p:spPr>
        <p:txBody>
          <a:bodyPr>
            <a:normAutofit/>
          </a:bodyPr>
          <a:lstStyle/>
          <a:p>
            <a:pPr marL="342900" marR="0" lvl="0" indent="-342900">
              <a:spcBef>
                <a:spcPts val="0"/>
              </a:spcBef>
              <a:spcAft>
                <a:spcPts val="600"/>
              </a:spcAft>
              <a:buFont typeface="Symbol" pitchFamily="2" charset="2"/>
              <a:buChar char=""/>
            </a:pPr>
            <a:r>
              <a:rPr lang="en-US" sz="2000"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Dissecting and Fortifying Existing Protocols</a:t>
            </a:r>
          </a:p>
          <a:p>
            <a:pPr marL="342900" marR="0" lvl="0" indent="-342900">
              <a:spcBef>
                <a:spcPts val="0"/>
              </a:spcBef>
              <a:spcAft>
                <a:spcPts val="600"/>
              </a:spcAft>
              <a:buFont typeface="Symbol" pitchFamily="2" charset="2"/>
              <a:buChar char=""/>
            </a:pPr>
            <a:r>
              <a:rPr lang="en-US" sz="2000"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Encrypting Data with the Gold Standard: AES</a:t>
            </a:r>
          </a:p>
          <a:p>
            <a:pPr marL="342900" marR="0" lvl="0" indent="-342900">
              <a:spcBef>
                <a:spcPts val="0"/>
              </a:spcBef>
              <a:spcAft>
                <a:spcPts val="600"/>
              </a:spcAft>
              <a:buFont typeface="Symbol" pitchFamily="2" charset="2"/>
              <a:buChar char=""/>
            </a:pPr>
            <a:r>
              <a:rPr lang="en-US" sz="2000"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Elevating Authentication with EAP-TLS</a:t>
            </a:r>
          </a:p>
          <a:p>
            <a:pPr marL="342900" marR="0" lvl="0" indent="-342900">
              <a:spcBef>
                <a:spcPts val="0"/>
              </a:spcBef>
              <a:spcAft>
                <a:spcPts val="600"/>
              </a:spcAft>
              <a:buFont typeface="Symbol" pitchFamily="2" charset="2"/>
              <a:buChar char=""/>
            </a:pPr>
            <a:r>
              <a:rPr lang="en-US" sz="2000"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Cementing Data Security with IPsec VPNs</a:t>
            </a:r>
          </a:p>
        </p:txBody>
      </p:sp>
    </p:spTree>
    <p:extLst>
      <p:ext uri="{BB962C8B-B14F-4D97-AF65-F5344CB8AC3E}">
        <p14:creationId xmlns:p14="http://schemas.microsoft.com/office/powerpoint/2010/main" val="3035625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a:extLst>
              <a:ext uri="{FF2B5EF4-FFF2-40B4-BE49-F238E27FC236}">
                <a16:creationId xmlns:a16="http://schemas.microsoft.com/office/drawing/2014/main" id="{D5997EA8-5EFC-40CD-A85F-C3C3BC5F9E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using a computer&#10;&#10;Description automatically generated">
            <a:extLst>
              <a:ext uri="{FF2B5EF4-FFF2-40B4-BE49-F238E27FC236}">
                <a16:creationId xmlns:a16="http://schemas.microsoft.com/office/drawing/2014/main" id="{BFA9C702-3E4A-06C5-D098-4EE52BAFD6B8}"/>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b="14773"/>
          <a:stretch/>
        </p:blipFill>
        <p:spPr>
          <a:xfrm>
            <a:off x="20" y="10"/>
            <a:ext cx="12191979" cy="6857990"/>
          </a:xfrm>
          <a:prstGeom prst="rect">
            <a:avLst/>
          </a:prstGeom>
        </p:spPr>
      </p:pic>
      <p:sp>
        <p:nvSpPr>
          <p:cNvPr id="17" name="Rectangle 16">
            <a:extLst>
              <a:ext uri="{FF2B5EF4-FFF2-40B4-BE49-F238E27FC236}">
                <a16:creationId xmlns:a16="http://schemas.microsoft.com/office/drawing/2014/main" id="{1CF6A1EC-BD15-42D9-A339-A3970CF7C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4218905"/>
            <a:ext cx="11167447" cy="2089317"/>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10263F-7C86-8035-673F-FA379F518A6B}"/>
              </a:ext>
            </a:extLst>
          </p:cNvPr>
          <p:cNvSpPr>
            <a:spLocks noGrp="1"/>
          </p:cNvSpPr>
          <p:nvPr>
            <p:ph type="title"/>
          </p:nvPr>
        </p:nvSpPr>
        <p:spPr>
          <a:xfrm>
            <a:off x="1051560" y="4498848"/>
            <a:ext cx="3611880" cy="1536192"/>
          </a:xfrm>
        </p:spPr>
        <p:txBody>
          <a:bodyPr>
            <a:normAutofit/>
          </a:bodyPr>
          <a:lstStyle/>
          <a:p>
            <a:r>
              <a:rPr lang="en-US" sz="3200">
                <a:effectLst/>
                <a:latin typeface="Calibri" panose="020F0502020204030204" pitchFamily="34" charset="0"/>
                <a:ea typeface="Calibri" panose="020F0502020204030204" pitchFamily="34" charset="0"/>
                <a:cs typeface="Times New Roman" panose="02020603050405020304" pitchFamily="18" charset="0"/>
              </a:rPr>
              <a:t>Arming the Network with Advanced Tech</a:t>
            </a:r>
            <a:r>
              <a:rPr lang="en-US" sz="3200">
                <a:effectLst/>
              </a:rPr>
              <a:t> </a:t>
            </a:r>
            <a:endParaRPr lang="en-US" sz="3200"/>
          </a:p>
        </p:txBody>
      </p:sp>
      <p:sp>
        <p:nvSpPr>
          <p:cNvPr id="14" name="Rectangle 13">
            <a:extLst>
              <a:ext uri="{FF2B5EF4-FFF2-40B4-BE49-F238E27FC236}">
                <a16:creationId xmlns:a16="http://schemas.microsoft.com/office/drawing/2014/main" id="{A720C27D-5C39-492B-BD68-C220C0F83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491151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A4F3394A-A959-460A-ACF9-5FA682C76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525441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69A4E53-599D-2A54-A73C-6E0A1D577E7C}"/>
              </a:ext>
            </a:extLst>
          </p:cNvPr>
          <p:cNvSpPr>
            <a:spLocks noGrp="1"/>
          </p:cNvSpPr>
          <p:nvPr>
            <p:ph idx="1"/>
          </p:nvPr>
        </p:nvSpPr>
        <p:spPr>
          <a:xfrm>
            <a:off x="5295826" y="4498848"/>
            <a:ext cx="6061022" cy="1536192"/>
          </a:xfrm>
        </p:spPr>
        <p:txBody>
          <a:bodyPr anchor="ctr">
            <a:normAutofit/>
          </a:bodyPr>
          <a:lstStyle/>
          <a:p>
            <a:pPr marL="342900" marR="0" lvl="0" indent="-342900">
              <a:spcBef>
                <a:spcPts val="0"/>
              </a:spcBef>
              <a:spcAft>
                <a:spcPts val="600"/>
              </a:spcAft>
              <a:buFont typeface="Symbol" pitchFamily="2" charset="2"/>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Deploying Cutting-Edge Firewalls and IDS/IPS</a:t>
            </a:r>
          </a:p>
          <a:p>
            <a:pPr marL="342900" marR="0" lvl="0" indent="-342900">
              <a:spcBef>
                <a:spcPts val="0"/>
              </a:spcBef>
              <a:spcAft>
                <a:spcPts val="600"/>
              </a:spcAft>
              <a:buFont typeface="Symbol" pitchFamily="2" charset="2"/>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WAPs: Becoming Digital Sentry Posts</a:t>
            </a:r>
          </a:p>
          <a:p>
            <a:pPr marL="342900" marR="0" lvl="0" indent="-342900">
              <a:spcBef>
                <a:spcPts val="0"/>
              </a:spcBef>
              <a:spcAft>
                <a:spcPts val="600"/>
              </a:spcAft>
              <a:buFont typeface="Symbol" pitchFamily="2" charset="2"/>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VLANs: Creating Secure HR Data Havens</a:t>
            </a:r>
          </a:p>
          <a:p>
            <a:pPr marL="342900" marR="0" lvl="0" indent="-342900">
              <a:spcBef>
                <a:spcPts val="0"/>
              </a:spcBef>
              <a:spcAft>
                <a:spcPts val="600"/>
              </a:spcAft>
              <a:buFont typeface="Symbol" pitchFamily="2" charset="2"/>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Enlisting AI-Powered Network Sentinels</a:t>
            </a:r>
          </a:p>
        </p:txBody>
      </p:sp>
    </p:spTree>
    <p:extLst>
      <p:ext uri="{BB962C8B-B14F-4D97-AF65-F5344CB8AC3E}">
        <p14:creationId xmlns:p14="http://schemas.microsoft.com/office/powerpoint/2010/main" val="1298278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hand holding a tablet with icons coming out of it&#10;&#10;Description automatically generated">
            <a:extLst>
              <a:ext uri="{FF2B5EF4-FFF2-40B4-BE49-F238E27FC236}">
                <a16:creationId xmlns:a16="http://schemas.microsoft.com/office/drawing/2014/main" id="{EBD3C3D8-E9AD-BEE6-5F0D-F6D9582A52C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t="2816" r="23289" b="6275"/>
          <a:stretch/>
        </p:blipFill>
        <p:spPr>
          <a:xfrm>
            <a:off x="3522468" y="10"/>
            <a:ext cx="8669532" cy="6857990"/>
          </a:xfrm>
          <a:prstGeom prst="rect">
            <a:avLst/>
          </a:prstGeom>
        </p:spPr>
      </p:pic>
      <p:sp>
        <p:nvSpPr>
          <p:cNvPr id="12" name="Rectangle 11">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20D79BA-A5C6-0207-6D7B-1086FF25AE92}"/>
              </a:ext>
            </a:extLst>
          </p:cNvPr>
          <p:cNvSpPr>
            <a:spLocks noGrp="1"/>
          </p:cNvSpPr>
          <p:nvPr>
            <p:ph type="title"/>
          </p:nvPr>
        </p:nvSpPr>
        <p:spPr>
          <a:xfrm>
            <a:off x="371094" y="1161288"/>
            <a:ext cx="3438144" cy="1124712"/>
          </a:xfrm>
        </p:spPr>
        <p:txBody>
          <a:bodyPr anchor="b">
            <a:normAutofit/>
          </a:bodyPr>
          <a:lstStyle/>
          <a:p>
            <a:r>
              <a:rPr lang="en-US" sz="26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Championing Proactive Network Defense</a:t>
            </a:r>
            <a:r>
              <a:rPr lang="en-US" sz="2600">
                <a:solidFill>
                  <a:schemeClr val="bg1"/>
                </a:solidFill>
                <a:effectLst/>
              </a:rPr>
              <a:t> </a:t>
            </a:r>
            <a:endParaRPr lang="en-US" sz="2600">
              <a:solidFill>
                <a:schemeClr val="bg1"/>
              </a:solidFill>
            </a:endParaRPr>
          </a:p>
        </p:txBody>
      </p:sp>
      <p:sp>
        <p:nvSpPr>
          <p:cNvPr id="14" name="Rectangle 1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A5366057-2C85-E9D9-8D83-4D7C550DE2A0}"/>
              </a:ext>
            </a:extLst>
          </p:cNvPr>
          <p:cNvSpPr>
            <a:spLocks noGrp="1"/>
          </p:cNvSpPr>
          <p:nvPr>
            <p:ph idx="1"/>
          </p:nvPr>
        </p:nvSpPr>
        <p:spPr>
          <a:xfrm>
            <a:off x="371094" y="2718054"/>
            <a:ext cx="3438906" cy="3207258"/>
          </a:xfrm>
        </p:spPr>
        <p:txBody>
          <a:bodyPr anchor="t">
            <a:normAutofit/>
          </a:bodyPr>
          <a:lstStyle/>
          <a:p>
            <a:pPr marL="342900" marR="0" lvl="0" indent="-342900">
              <a:spcBef>
                <a:spcPts val="0"/>
              </a:spcBef>
              <a:spcAft>
                <a:spcPts val="600"/>
              </a:spcAft>
              <a:buFont typeface="Symbol" pitchFamily="2" charset="2"/>
              <a:buChar char=""/>
            </a:pPr>
            <a:r>
              <a:rPr lang="en-US" sz="17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WIPS and WIDS: The Network's Vigilant Guardians</a:t>
            </a:r>
          </a:p>
          <a:p>
            <a:pPr marL="342900" marR="0" lvl="0" indent="-342900">
              <a:spcBef>
                <a:spcPts val="0"/>
              </a:spcBef>
              <a:spcAft>
                <a:spcPts val="600"/>
              </a:spcAft>
              <a:buFont typeface="Symbol" pitchFamily="2" charset="2"/>
              <a:buChar char=""/>
            </a:pPr>
            <a:r>
              <a:rPr lang="en-US" sz="17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Staying Ahead of Threats with Real-Time Alerts</a:t>
            </a:r>
          </a:p>
          <a:p>
            <a:pPr marL="342900" marR="0" lvl="0" indent="-342900">
              <a:spcBef>
                <a:spcPts val="0"/>
              </a:spcBef>
              <a:spcAft>
                <a:spcPts val="600"/>
              </a:spcAft>
              <a:buFont typeface="Symbol" pitchFamily="2" charset="2"/>
              <a:buChar char=""/>
            </a:pPr>
            <a:r>
              <a:rPr lang="en-US" sz="17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Crafting a Resilient Network Ecosystem</a:t>
            </a:r>
          </a:p>
          <a:p>
            <a:pPr marL="342900" marR="0" lvl="0" indent="-342900">
              <a:spcBef>
                <a:spcPts val="0"/>
              </a:spcBef>
              <a:spcAft>
                <a:spcPts val="600"/>
              </a:spcAft>
              <a:buFont typeface="Symbol" pitchFamily="2" charset="2"/>
              <a:buChar char=""/>
            </a:pPr>
            <a:r>
              <a:rPr lang="en-US" sz="17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Embracing a Proactive Security Posture</a:t>
            </a:r>
          </a:p>
        </p:txBody>
      </p:sp>
    </p:spTree>
    <p:extLst>
      <p:ext uri="{BB962C8B-B14F-4D97-AF65-F5344CB8AC3E}">
        <p14:creationId xmlns:p14="http://schemas.microsoft.com/office/powerpoint/2010/main" val="446967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A75659-5A6F-4F77-9679-678A00B9D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holding a phone&#10;&#10;Description automatically generated">
            <a:extLst>
              <a:ext uri="{FF2B5EF4-FFF2-40B4-BE49-F238E27FC236}">
                <a16:creationId xmlns:a16="http://schemas.microsoft.com/office/drawing/2014/main" id="{B56A2AFF-66B7-DCAE-0045-5B1C67CD63E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8990" t="9091" r="16374"/>
          <a:stretch/>
        </p:blipFill>
        <p:spPr>
          <a:xfrm>
            <a:off x="20" y="10"/>
            <a:ext cx="8668492" cy="6857990"/>
          </a:xfrm>
          <a:prstGeom prst="rect">
            <a:avLst/>
          </a:prstGeom>
        </p:spPr>
      </p:pic>
      <p:sp>
        <p:nvSpPr>
          <p:cNvPr id="12" name="Rectangle 11">
            <a:extLst>
              <a:ext uri="{FF2B5EF4-FFF2-40B4-BE49-F238E27FC236}">
                <a16:creationId xmlns:a16="http://schemas.microsoft.com/office/drawing/2014/main" id="{E30A3A45-140E-431E-AED0-07EF83631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35399" y="0"/>
            <a:ext cx="9756601" cy="6858000"/>
          </a:xfrm>
          <a:prstGeom prst="rect">
            <a:avLst/>
          </a:prstGeom>
          <a:gradFill>
            <a:gsLst>
              <a:gs pos="53000">
                <a:schemeClr val="tx1"/>
              </a:gs>
              <a:gs pos="35000">
                <a:schemeClr val="tx1">
                  <a:alpha val="76000"/>
                </a:schemeClr>
              </a:gs>
              <a:gs pos="19000">
                <a:schemeClr val="tx1">
                  <a:alpha val="40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CF9D65-EE77-D841-8974-CE33FCB2BCDC}"/>
              </a:ext>
            </a:extLst>
          </p:cNvPr>
          <p:cNvSpPr>
            <a:spLocks noGrp="1"/>
          </p:cNvSpPr>
          <p:nvPr>
            <p:ph type="title"/>
          </p:nvPr>
        </p:nvSpPr>
        <p:spPr>
          <a:xfrm>
            <a:off x="8395868" y="1161288"/>
            <a:ext cx="3438144" cy="1124712"/>
          </a:xfrm>
        </p:spPr>
        <p:txBody>
          <a:bodyPr anchor="b">
            <a:normAutofit/>
          </a:bodyPr>
          <a:lstStyle/>
          <a:p>
            <a:r>
              <a:rPr lang="en-US" sz="24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Encrypting Data: The Pillar of Network Security</a:t>
            </a:r>
            <a:r>
              <a:rPr lang="en-US" sz="2400">
                <a:solidFill>
                  <a:schemeClr val="bg1"/>
                </a:solidFill>
                <a:effectLst/>
              </a:rPr>
              <a:t> </a:t>
            </a:r>
            <a:endParaRPr lang="en-US" sz="2400">
              <a:solidFill>
                <a:schemeClr val="bg1"/>
              </a:solidFill>
            </a:endParaRPr>
          </a:p>
        </p:txBody>
      </p:sp>
      <p:sp>
        <p:nvSpPr>
          <p:cNvPr id="14" name="Rectangle 1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7333"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3018" y="2443480"/>
            <a:ext cx="3218688"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ABDDB6F-C910-9067-22EB-7238747206BE}"/>
              </a:ext>
            </a:extLst>
          </p:cNvPr>
          <p:cNvSpPr>
            <a:spLocks noGrp="1"/>
          </p:cNvSpPr>
          <p:nvPr>
            <p:ph idx="1"/>
          </p:nvPr>
        </p:nvSpPr>
        <p:spPr>
          <a:xfrm>
            <a:off x="8395868" y="2718054"/>
            <a:ext cx="3438906" cy="3207258"/>
          </a:xfrm>
        </p:spPr>
        <p:txBody>
          <a:bodyPr anchor="t">
            <a:normAutofit/>
          </a:bodyPr>
          <a:lstStyle/>
          <a:p>
            <a:pPr marL="342900" marR="0" lvl="0" indent="-342900">
              <a:spcBef>
                <a:spcPts val="0"/>
              </a:spcBef>
              <a:spcAft>
                <a:spcPts val="600"/>
              </a:spcAft>
              <a:buFont typeface="Symbol" pitchFamily="2" charset="2"/>
              <a:buChar char=""/>
            </a:pPr>
            <a:r>
              <a:rPr lang="en-US" sz="17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The Unassailable Fortress of AES Encryption</a:t>
            </a:r>
          </a:p>
          <a:p>
            <a:pPr marL="342900" marR="0" lvl="0" indent="-342900">
              <a:spcBef>
                <a:spcPts val="0"/>
              </a:spcBef>
              <a:spcAft>
                <a:spcPts val="600"/>
              </a:spcAft>
              <a:buFont typeface="Symbol" pitchFamily="2" charset="2"/>
              <a:buChar char=""/>
            </a:pPr>
            <a:r>
              <a:rPr lang="en-US" sz="17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WPA3: The Vanguard of Wi-Fi Security</a:t>
            </a:r>
          </a:p>
          <a:p>
            <a:pPr marL="342900" marR="0" lvl="0" indent="-342900">
              <a:spcBef>
                <a:spcPts val="0"/>
              </a:spcBef>
              <a:spcAft>
                <a:spcPts val="600"/>
              </a:spcAft>
              <a:buFont typeface="Symbol" pitchFamily="2" charset="2"/>
              <a:buChar char=""/>
            </a:pPr>
            <a:r>
              <a:rPr lang="en-US" sz="17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Ensuring HR Data's Confidential Journey</a:t>
            </a:r>
          </a:p>
          <a:p>
            <a:pPr marL="342900" marR="0" lvl="0" indent="-342900">
              <a:spcBef>
                <a:spcPts val="0"/>
              </a:spcBef>
              <a:spcAft>
                <a:spcPts val="600"/>
              </a:spcAft>
              <a:buFont typeface="Symbol" pitchFamily="2" charset="2"/>
              <a:buChar char=""/>
            </a:pPr>
            <a:r>
              <a:rPr lang="en-US" sz="1700" kern="10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Preserving Data Integrity in the Digital Realm</a:t>
            </a:r>
          </a:p>
        </p:txBody>
      </p:sp>
    </p:spTree>
    <p:extLst>
      <p:ext uri="{BB962C8B-B14F-4D97-AF65-F5344CB8AC3E}">
        <p14:creationId xmlns:p14="http://schemas.microsoft.com/office/powerpoint/2010/main" val="599859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descr="A close-up of a computer&#10;&#10;Description automatically generated">
            <a:extLst>
              <a:ext uri="{FF2B5EF4-FFF2-40B4-BE49-F238E27FC236}">
                <a16:creationId xmlns:a16="http://schemas.microsoft.com/office/drawing/2014/main" id="{69DD6E4C-F1A7-F183-31C9-5401265ECEE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9348"/>
          <a:stretch/>
        </p:blipFill>
        <p:spPr>
          <a:xfrm>
            <a:off x="20" y="10"/>
            <a:ext cx="9947062" cy="6857990"/>
          </a:xfrm>
          <a:prstGeom prst="rect">
            <a:avLst/>
          </a:prstGeom>
        </p:spPr>
      </p:pic>
      <p:sp>
        <p:nvSpPr>
          <p:cNvPr id="12" name="Freeform: Shape 11">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useBgFill="1">
        <p:nvSpPr>
          <p:cNvPr id="14" name="Freeform: Shape 13">
            <a:extLst>
              <a:ext uri="{FF2B5EF4-FFF2-40B4-BE49-F238E27FC236}">
                <a16:creationId xmlns:a16="http://schemas.microsoft.com/office/drawing/2014/main" id="{F9EC3F91-A75C-4F74-867E-E4C28C135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226" y="0"/>
            <a:ext cx="5043774" cy="6858000"/>
          </a:xfrm>
          <a:custGeom>
            <a:avLst/>
            <a:gdLst>
              <a:gd name="connsiteX0" fmla="*/ 1648981 w 5043774"/>
              <a:gd name="connsiteY0" fmla="*/ 0 h 6858000"/>
              <a:gd name="connsiteX1" fmla="*/ 2759699 w 5043774"/>
              <a:gd name="connsiteY1" fmla="*/ 0 h 6858000"/>
              <a:gd name="connsiteX2" fmla="*/ 3379301 w 5043774"/>
              <a:gd name="connsiteY2" fmla="*/ 0 h 6858000"/>
              <a:gd name="connsiteX3" fmla="*/ 3552342 w 5043774"/>
              <a:gd name="connsiteY3" fmla="*/ 0 h 6858000"/>
              <a:gd name="connsiteX4" fmla="*/ 4617166 w 5043774"/>
              <a:gd name="connsiteY4" fmla="*/ 0 h 6858000"/>
              <a:gd name="connsiteX5" fmla="*/ 4786130 w 5043774"/>
              <a:gd name="connsiteY5" fmla="*/ 0 h 6858000"/>
              <a:gd name="connsiteX6" fmla="*/ 4980168 w 5043774"/>
              <a:gd name="connsiteY6" fmla="*/ 0 h 6858000"/>
              <a:gd name="connsiteX7" fmla="*/ 5043774 w 5043774"/>
              <a:gd name="connsiteY7" fmla="*/ 0 h 6858000"/>
              <a:gd name="connsiteX8" fmla="*/ 5043774 w 5043774"/>
              <a:gd name="connsiteY8" fmla="*/ 6858000 h 6858000"/>
              <a:gd name="connsiteX9" fmla="*/ 4980168 w 5043774"/>
              <a:gd name="connsiteY9" fmla="*/ 6858000 h 6858000"/>
              <a:gd name="connsiteX10" fmla="*/ 4786130 w 5043774"/>
              <a:gd name="connsiteY10" fmla="*/ 6858000 h 6858000"/>
              <a:gd name="connsiteX11" fmla="*/ 4617166 w 5043774"/>
              <a:gd name="connsiteY11" fmla="*/ 6858000 h 6858000"/>
              <a:gd name="connsiteX12" fmla="*/ 3552342 w 5043774"/>
              <a:gd name="connsiteY12" fmla="*/ 6858000 h 6858000"/>
              <a:gd name="connsiteX13" fmla="*/ 3379301 w 5043774"/>
              <a:gd name="connsiteY13" fmla="*/ 6858000 h 6858000"/>
              <a:gd name="connsiteX14" fmla="*/ 2759699 w 5043774"/>
              <a:gd name="connsiteY14" fmla="*/ 6858000 h 6858000"/>
              <a:gd name="connsiteX15" fmla="*/ 2542782 w 5043774"/>
              <a:gd name="connsiteY15" fmla="*/ 6858000 h 6858000"/>
              <a:gd name="connsiteX16" fmla="*/ 2429239 w 5043774"/>
              <a:gd name="connsiteY16" fmla="*/ 6780599 h 6858000"/>
              <a:gd name="connsiteX17" fmla="*/ 1904328 w 5043774"/>
              <a:gd name="connsiteY17" fmla="*/ 6374814 h 6858000"/>
              <a:gd name="connsiteX18" fmla="*/ 0 w 5043774"/>
              <a:gd name="connsiteY18" fmla="*/ 3621656 h 6858000"/>
              <a:gd name="connsiteX19" fmla="*/ 1626503 w 5043774"/>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043774" h="6858000">
                <a:moveTo>
                  <a:pt x="1648981" y="0"/>
                </a:moveTo>
                <a:lnTo>
                  <a:pt x="2759699" y="0"/>
                </a:lnTo>
                <a:lnTo>
                  <a:pt x="3379301" y="0"/>
                </a:lnTo>
                <a:lnTo>
                  <a:pt x="3552342" y="0"/>
                </a:lnTo>
                <a:lnTo>
                  <a:pt x="4617166" y="0"/>
                </a:lnTo>
                <a:lnTo>
                  <a:pt x="4786130" y="0"/>
                </a:lnTo>
                <a:lnTo>
                  <a:pt x="4980168" y="0"/>
                </a:lnTo>
                <a:lnTo>
                  <a:pt x="5043774" y="0"/>
                </a:lnTo>
                <a:lnTo>
                  <a:pt x="5043774" y="6858000"/>
                </a:lnTo>
                <a:lnTo>
                  <a:pt x="4980168" y="6858000"/>
                </a:lnTo>
                <a:lnTo>
                  <a:pt x="4786130" y="6858000"/>
                </a:lnTo>
                <a:lnTo>
                  <a:pt x="4617166" y="6858000"/>
                </a:lnTo>
                <a:lnTo>
                  <a:pt x="3552342" y="6858000"/>
                </a:lnTo>
                <a:lnTo>
                  <a:pt x="3379301" y="6858000"/>
                </a:lnTo>
                <a:lnTo>
                  <a:pt x="2759699" y="6858000"/>
                </a:lnTo>
                <a:lnTo>
                  <a:pt x="2542782" y="6858000"/>
                </a:lnTo>
                <a:lnTo>
                  <a:pt x="2429239" y="6780599"/>
                </a:lnTo>
                <a:cubicBezTo>
                  <a:pt x="2252641" y="6653108"/>
                  <a:pt x="2079285" y="6515397"/>
                  <a:pt x="1904328" y="6374814"/>
                </a:cubicBezTo>
                <a:cubicBezTo>
                  <a:pt x="943579" y="5602839"/>
                  <a:pt x="0" y="4969131"/>
                  <a:pt x="0" y="3621656"/>
                </a:cubicBezTo>
                <a:cubicBezTo>
                  <a:pt x="0" y="2093192"/>
                  <a:pt x="582912" y="754641"/>
                  <a:pt x="1626503" y="14997"/>
                </a:cubicBezTo>
                <a:close/>
              </a:path>
            </a:pathLst>
          </a:cu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Meiryo"/>
            </a:endParaRPr>
          </a:p>
        </p:txBody>
      </p:sp>
      <p:sp>
        <p:nvSpPr>
          <p:cNvPr id="16" name="Freeform: Shape 15">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9701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ED3C809E-9447-96EE-DF27-C71602AF7272}"/>
              </a:ext>
            </a:extLst>
          </p:cNvPr>
          <p:cNvSpPr>
            <a:spLocks noGrp="1"/>
          </p:cNvSpPr>
          <p:nvPr>
            <p:ph type="title"/>
          </p:nvPr>
        </p:nvSpPr>
        <p:spPr>
          <a:xfrm>
            <a:off x="8046720" y="1045597"/>
            <a:ext cx="3633746" cy="1588422"/>
          </a:xfrm>
        </p:spPr>
        <p:txBody>
          <a:bodyPr anchor="b">
            <a:normAutofit/>
          </a:bodyPr>
          <a:lstStyle/>
          <a:p>
            <a:r>
              <a:rPr lang="en-US" sz="3600">
                <a:effectLst/>
                <a:latin typeface="Calibri" panose="020F0502020204030204" pitchFamily="34" charset="0"/>
                <a:ea typeface="Calibri" panose="020F0502020204030204" pitchFamily="34" charset="0"/>
                <a:cs typeface="Times New Roman" panose="02020603050405020304" pitchFamily="18" charset="0"/>
              </a:rPr>
              <a:t>Redesigning for Resilience - Part 1</a:t>
            </a:r>
            <a:r>
              <a:rPr lang="en-US" sz="3600">
                <a:effectLst/>
              </a:rPr>
              <a:t> </a:t>
            </a:r>
            <a:endParaRPr lang="en-US" sz="3600"/>
          </a:p>
        </p:txBody>
      </p:sp>
      <p:sp>
        <p:nvSpPr>
          <p:cNvPr id="3" name="Content Placeholder 2">
            <a:extLst>
              <a:ext uri="{FF2B5EF4-FFF2-40B4-BE49-F238E27FC236}">
                <a16:creationId xmlns:a16="http://schemas.microsoft.com/office/drawing/2014/main" id="{B8384301-8DAA-886D-6783-B6AD21CFDC22}"/>
              </a:ext>
            </a:extLst>
          </p:cNvPr>
          <p:cNvSpPr>
            <a:spLocks noGrp="1"/>
          </p:cNvSpPr>
          <p:nvPr>
            <p:ph idx="1"/>
          </p:nvPr>
        </p:nvSpPr>
        <p:spPr>
          <a:xfrm>
            <a:off x="8046719" y="2722729"/>
            <a:ext cx="3633747" cy="2700062"/>
          </a:xfrm>
        </p:spPr>
        <p:txBody>
          <a:bodyPr>
            <a:normAutofit/>
          </a:bodyPr>
          <a:lstStyle/>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Integrating Smart Security Appliances</a:t>
            </a:r>
          </a:p>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Refining Network Access and Traffic Control</a:t>
            </a:r>
          </a:p>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Constructing Digital Moats with VLANs</a:t>
            </a:r>
          </a:p>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Upgrading to AI-Driven Network Surveillance</a:t>
            </a:r>
          </a:p>
        </p:txBody>
      </p:sp>
    </p:spTree>
    <p:extLst>
      <p:ext uri="{BB962C8B-B14F-4D97-AF65-F5344CB8AC3E}">
        <p14:creationId xmlns:p14="http://schemas.microsoft.com/office/powerpoint/2010/main" val="2498738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CE40DC-5723-449B-A365-A61D8C262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descr="A person sitting at a desk with multiple computer screens&#10;&#10;Description automatically generated">
            <a:extLst>
              <a:ext uri="{FF2B5EF4-FFF2-40B4-BE49-F238E27FC236}">
                <a16:creationId xmlns:a16="http://schemas.microsoft.com/office/drawing/2014/main" id="{A5039B95-7067-B604-B528-95E6028CD17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r="25"/>
          <a:stretch/>
        </p:blipFill>
        <p:spPr>
          <a:xfrm>
            <a:off x="1524" y="10"/>
            <a:ext cx="12188952" cy="6857990"/>
          </a:xfrm>
          <a:prstGeom prst="rect">
            <a:avLst/>
          </a:prstGeom>
        </p:spPr>
      </p:pic>
      <p:sp>
        <p:nvSpPr>
          <p:cNvPr id="12" name="Freeform: Shape 11">
            <a:extLst>
              <a:ext uri="{FF2B5EF4-FFF2-40B4-BE49-F238E27FC236}">
                <a16:creationId xmlns:a16="http://schemas.microsoft.com/office/drawing/2014/main" id="{9854DBCA-D3C3-4C19-9B2E-DFA0BE6472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67853" y="0"/>
            <a:ext cx="10256294" cy="6858000"/>
          </a:xfrm>
          <a:custGeom>
            <a:avLst/>
            <a:gdLst>
              <a:gd name="connsiteX0" fmla="*/ 8218354 w 9841377"/>
              <a:gd name="connsiteY0" fmla="*/ 0 h 6858000"/>
              <a:gd name="connsiteX1" fmla="*/ 5551962 w 9841377"/>
              <a:gd name="connsiteY1" fmla="*/ 0 h 6858000"/>
              <a:gd name="connsiteX2" fmla="*/ 5482342 w 9841377"/>
              <a:gd name="connsiteY2" fmla="*/ 0 h 6858000"/>
              <a:gd name="connsiteX3" fmla="*/ 4359035 w 9841377"/>
              <a:gd name="connsiteY3" fmla="*/ 0 h 6858000"/>
              <a:gd name="connsiteX4" fmla="*/ 4289415 w 9841377"/>
              <a:gd name="connsiteY4" fmla="*/ 0 h 6858000"/>
              <a:gd name="connsiteX5" fmla="*/ 1623023 w 9841377"/>
              <a:gd name="connsiteY5" fmla="*/ 0 h 6858000"/>
              <a:gd name="connsiteX6" fmla="*/ 1600899 w 9841377"/>
              <a:gd name="connsiteY6" fmla="*/ 14997 h 6858000"/>
              <a:gd name="connsiteX7" fmla="*/ 0 w 9841377"/>
              <a:gd name="connsiteY7" fmla="*/ 3621656 h 6858000"/>
              <a:gd name="connsiteX8" fmla="*/ 1874350 w 9841377"/>
              <a:gd name="connsiteY8" fmla="*/ 6374814 h 6858000"/>
              <a:gd name="connsiteX9" fmla="*/ 2390998 w 9841377"/>
              <a:gd name="connsiteY9" fmla="*/ 6780599 h 6858000"/>
              <a:gd name="connsiteX10" fmla="*/ 2502754 w 9841377"/>
              <a:gd name="connsiteY10" fmla="*/ 6858000 h 6858000"/>
              <a:gd name="connsiteX11" fmla="*/ 4289415 w 9841377"/>
              <a:gd name="connsiteY11" fmla="*/ 6858000 h 6858000"/>
              <a:gd name="connsiteX12" fmla="*/ 4359035 w 9841377"/>
              <a:gd name="connsiteY12" fmla="*/ 6858000 h 6858000"/>
              <a:gd name="connsiteX13" fmla="*/ 5482342 w 9841377"/>
              <a:gd name="connsiteY13" fmla="*/ 6858000 h 6858000"/>
              <a:gd name="connsiteX14" fmla="*/ 5551962 w 9841377"/>
              <a:gd name="connsiteY14" fmla="*/ 6858000 h 6858000"/>
              <a:gd name="connsiteX15" fmla="*/ 7338623 w 9841377"/>
              <a:gd name="connsiteY15" fmla="*/ 6858000 h 6858000"/>
              <a:gd name="connsiteX16" fmla="*/ 7450379 w 9841377"/>
              <a:gd name="connsiteY16" fmla="*/ 6780599 h 6858000"/>
              <a:gd name="connsiteX17" fmla="*/ 7967027 w 9841377"/>
              <a:gd name="connsiteY17" fmla="*/ 6374814 h 6858000"/>
              <a:gd name="connsiteX18" fmla="*/ 9841377 w 9841377"/>
              <a:gd name="connsiteY18" fmla="*/ 3621656 h 6858000"/>
              <a:gd name="connsiteX19" fmla="*/ 8240478 w 9841377"/>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41377" h="6858000">
                <a:moveTo>
                  <a:pt x="8218354" y="0"/>
                </a:moveTo>
                <a:lnTo>
                  <a:pt x="5551962" y="0"/>
                </a:lnTo>
                <a:lnTo>
                  <a:pt x="5482342" y="0"/>
                </a:lnTo>
                <a:lnTo>
                  <a:pt x="4359035" y="0"/>
                </a:lnTo>
                <a:lnTo>
                  <a:pt x="4289415" y="0"/>
                </a:lnTo>
                <a:lnTo>
                  <a:pt x="1623023" y="0"/>
                </a:lnTo>
                <a:lnTo>
                  <a:pt x="1600899" y="14997"/>
                </a:lnTo>
                <a:cubicBezTo>
                  <a:pt x="573736" y="754641"/>
                  <a:pt x="0" y="2093192"/>
                  <a:pt x="0" y="3621656"/>
                </a:cubicBezTo>
                <a:cubicBezTo>
                  <a:pt x="0" y="4969131"/>
                  <a:pt x="928725" y="5602839"/>
                  <a:pt x="1874350" y="6374814"/>
                </a:cubicBezTo>
                <a:cubicBezTo>
                  <a:pt x="2046553" y="6515397"/>
                  <a:pt x="2217180" y="6653108"/>
                  <a:pt x="2390998" y="6780599"/>
                </a:cubicBezTo>
                <a:lnTo>
                  <a:pt x="2502754" y="6858000"/>
                </a:lnTo>
                <a:lnTo>
                  <a:pt x="4289415" y="6858000"/>
                </a:lnTo>
                <a:lnTo>
                  <a:pt x="4359035" y="6858000"/>
                </a:lnTo>
                <a:lnTo>
                  <a:pt x="5482342" y="6858000"/>
                </a:lnTo>
                <a:lnTo>
                  <a:pt x="5551962" y="6858000"/>
                </a:lnTo>
                <a:lnTo>
                  <a:pt x="7338623" y="6858000"/>
                </a:lnTo>
                <a:lnTo>
                  <a:pt x="7450379" y="6780599"/>
                </a:lnTo>
                <a:cubicBezTo>
                  <a:pt x="7624197" y="6653108"/>
                  <a:pt x="7794824" y="6515397"/>
                  <a:pt x="7967027" y="6374814"/>
                </a:cubicBezTo>
                <a:cubicBezTo>
                  <a:pt x="8912652" y="5602839"/>
                  <a:pt x="9841377" y="4969131"/>
                  <a:pt x="9841377" y="3621656"/>
                </a:cubicBezTo>
                <a:cubicBezTo>
                  <a:pt x="9841377" y="2093192"/>
                  <a:pt x="9267641" y="754641"/>
                  <a:pt x="8240478"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E1383CB6-8BE5-4911-970B-A4151A07E7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16525" y="0"/>
            <a:ext cx="9958950"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842D14D1-56B7-40CD-8694-A9A48170C0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08673" y="-17801"/>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950A315C-978A-4A52-966E-55B2698F2A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75235" y="-17801"/>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B6772B7A-CF29-9CEE-35A4-49ADBE9A6393}"/>
              </a:ext>
            </a:extLst>
          </p:cNvPr>
          <p:cNvSpPr>
            <a:spLocks noGrp="1"/>
          </p:cNvSpPr>
          <p:nvPr>
            <p:ph type="title"/>
          </p:nvPr>
        </p:nvSpPr>
        <p:spPr>
          <a:xfrm>
            <a:off x="2245932" y="893763"/>
            <a:ext cx="7340048" cy="1324651"/>
          </a:xfrm>
        </p:spPr>
        <p:txBody>
          <a:bodyPr anchor="b">
            <a:normAutofit/>
          </a:bodyPr>
          <a:lstStyle/>
          <a:p>
            <a:r>
              <a:rPr lang="en-US" sz="3600">
                <a:effectLst/>
                <a:latin typeface="Calibri" panose="020F0502020204030204" pitchFamily="34" charset="0"/>
                <a:ea typeface="Calibri" panose="020F0502020204030204" pitchFamily="34" charset="0"/>
                <a:cs typeface="Times New Roman" panose="02020603050405020304" pitchFamily="18" charset="0"/>
              </a:rPr>
              <a:t>Redesigning for Resilience - Part 2</a:t>
            </a:r>
            <a:endParaRPr lang="en-US" sz="3600"/>
          </a:p>
        </p:txBody>
      </p:sp>
      <p:sp>
        <p:nvSpPr>
          <p:cNvPr id="3" name="Content Placeholder 2">
            <a:extLst>
              <a:ext uri="{FF2B5EF4-FFF2-40B4-BE49-F238E27FC236}">
                <a16:creationId xmlns:a16="http://schemas.microsoft.com/office/drawing/2014/main" id="{6C17F70F-3F70-F837-4CB1-1501FFDAE8A2}"/>
              </a:ext>
            </a:extLst>
          </p:cNvPr>
          <p:cNvSpPr>
            <a:spLocks noGrp="1"/>
          </p:cNvSpPr>
          <p:nvPr>
            <p:ph idx="1"/>
          </p:nvPr>
        </p:nvSpPr>
        <p:spPr>
          <a:xfrm>
            <a:off x="2245932" y="2329732"/>
            <a:ext cx="7340048" cy="3299791"/>
          </a:xfrm>
        </p:spPr>
        <p:txBody>
          <a:bodyPr>
            <a:normAutofit/>
          </a:bodyPr>
          <a:lstStyle/>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WAPs: The New Frontier of Secure Connectivity</a:t>
            </a:r>
          </a:p>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Authenticating with Precision: The EAP-TLS Edge</a:t>
            </a:r>
          </a:p>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AES: Locking Down Every Data Byte</a:t>
            </a:r>
          </a:p>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IDS/IPS: The Network's Rapid Response Force</a:t>
            </a:r>
          </a:p>
        </p:txBody>
      </p:sp>
    </p:spTree>
    <p:extLst>
      <p:ext uri="{BB962C8B-B14F-4D97-AF65-F5344CB8AC3E}">
        <p14:creationId xmlns:p14="http://schemas.microsoft.com/office/powerpoint/2010/main" val="1722457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D88F8B-8318-5C8B-1402-B5F59A1A9BDA}"/>
              </a:ext>
            </a:extLst>
          </p:cNvPr>
          <p:cNvSpPr>
            <a:spLocks noGrp="1"/>
          </p:cNvSpPr>
          <p:nvPr>
            <p:ph type="title"/>
          </p:nvPr>
        </p:nvSpPr>
        <p:spPr>
          <a:xfrm>
            <a:off x="761800" y="762001"/>
            <a:ext cx="5334197" cy="1708242"/>
          </a:xfrm>
        </p:spPr>
        <p:txBody>
          <a:bodyPr anchor="ctr">
            <a:normAutofit/>
          </a:bodyPr>
          <a:lstStyle/>
          <a:p>
            <a:r>
              <a:rPr lang="en-US" sz="4000">
                <a:effectLst/>
                <a:latin typeface="Calibri" panose="020F0502020204030204" pitchFamily="34" charset="0"/>
                <a:ea typeface="Calibri" panose="020F0502020204030204" pitchFamily="34" charset="0"/>
                <a:cs typeface="Times New Roman" panose="02020603050405020304" pitchFamily="18" charset="0"/>
              </a:rPr>
              <a:t>The Why Behind Our Security Strategy</a:t>
            </a:r>
            <a:r>
              <a:rPr lang="en-US" sz="4000">
                <a:effectLst/>
              </a:rPr>
              <a:t> </a:t>
            </a:r>
            <a:endParaRPr lang="en-US" sz="4000"/>
          </a:p>
        </p:txBody>
      </p:sp>
      <p:sp>
        <p:nvSpPr>
          <p:cNvPr id="3" name="Content Placeholder 2">
            <a:extLst>
              <a:ext uri="{FF2B5EF4-FFF2-40B4-BE49-F238E27FC236}">
                <a16:creationId xmlns:a16="http://schemas.microsoft.com/office/drawing/2014/main" id="{034748FE-9AB4-9E76-2BDD-5DC953D666D9}"/>
              </a:ext>
            </a:extLst>
          </p:cNvPr>
          <p:cNvSpPr>
            <a:spLocks noGrp="1"/>
          </p:cNvSpPr>
          <p:nvPr>
            <p:ph idx="1"/>
          </p:nvPr>
        </p:nvSpPr>
        <p:spPr>
          <a:xfrm>
            <a:off x="761800" y="2470244"/>
            <a:ext cx="5334197" cy="3769835"/>
          </a:xfrm>
        </p:spPr>
        <p:txBody>
          <a:bodyPr anchor="ctr">
            <a:normAutofit/>
          </a:bodyPr>
          <a:lstStyle/>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Staying One Step Ahead in the Cybersecurity Race</a:t>
            </a:r>
          </a:p>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Zeroing In on HR Data Protection</a:t>
            </a:r>
          </a:p>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Balancing Robust Security with Agile Performance</a:t>
            </a:r>
          </a:p>
          <a:p>
            <a:pPr marL="342900" marR="0" lvl="0" indent="-342900">
              <a:spcBef>
                <a:spcPts val="0"/>
              </a:spcBef>
              <a:spcAft>
                <a:spcPts val="60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Preparing Today's Network for Tomorrow's Challenges</a:t>
            </a:r>
          </a:p>
        </p:txBody>
      </p:sp>
      <p:pic>
        <p:nvPicPr>
          <p:cNvPr id="5" name="Picture 4" descr="Robot operating a machine">
            <a:extLst>
              <a:ext uri="{FF2B5EF4-FFF2-40B4-BE49-F238E27FC236}">
                <a16:creationId xmlns:a16="http://schemas.microsoft.com/office/drawing/2014/main" id="{96D164C0-E40D-56A9-657F-AC44D976862F}"/>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21160" r="19237"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502794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2948B7-7C4E-D8E9-C806-968BFD794ED8}"/>
              </a:ext>
            </a:extLst>
          </p:cNvPr>
          <p:cNvSpPr>
            <a:spLocks noGrp="1"/>
          </p:cNvSpPr>
          <p:nvPr>
            <p:ph type="title"/>
          </p:nvPr>
        </p:nvSpPr>
        <p:spPr>
          <a:xfrm>
            <a:off x="6803409" y="762001"/>
            <a:ext cx="4156512" cy="1708244"/>
          </a:xfrm>
        </p:spPr>
        <p:txBody>
          <a:bodyPr anchor="ctr">
            <a:normAutofit/>
          </a:bodyPr>
          <a:lstStyle/>
          <a:p>
            <a:r>
              <a:rPr lang="en-US" sz="3700">
                <a:effectLst/>
                <a:latin typeface="Calibri" panose="020F0502020204030204" pitchFamily="34" charset="0"/>
                <a:ea typeface="Calibri" panose="020F0502020204030204" pitchFamily="34" charset="0"/>
                <a:cs typeface="Times New Roman" panose="02020603050405020304" pitchFamily="18" charset="0"/>
              </a:rPr>
              <a:t>Securing Today, Envisioning Tomorrow</a:t>
            </a:r>
            <a:r>
              <a:rPr lang="en-US" sz="3700">
                <a:effectLst/>
              </a:rPr>
              <a:t> </a:t>
            </a:r>
            <a:endParaRPr lang="en-US" sz="3700"/>
          </a:p>
        </p:txBody>
      </p:sp>
      <p:pic>
        <p:nvPicPr>
          <p:cNvPr id="5" name="Picture 4" descr="Padlock on computer motherboard">
            <a:extLst>
              <a:ext uri="{FF2B5EF4-FFF2-40B4-BE49-F238E27FC236}">
                <a16:creationId xmlns:a16="http://schemas.microsoft.com/office/drawing/2014/main" id="{C0DA363B-2513-FBA4-02E7-D9031F73F30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8656" r="32010" b="-2"/>
          <a:stretch/>
        </p:blipFill>
        <p:spPr>
          <a:xfrm>
            <a:off x="-1" y="-2"/>
            <a:ext cx="6096001" cy="6858002"/>
          </a:xfrm>
          <a:prstGeom prst="rect">
            <a:avLst/>
          </a:prstGeom>
        </p:spPr>
      </p:pic>
      <p:sp>
        <p:nvSpPr>
          <p:cNvPr id="3" name="Content Placeholder 2">
            <a:extLst>
              <a:ext uri="{FF2B5EF4-FFF2-40B4-BE49-F238E27FC236}">
                <a16:creationId xmlns:a16="http://schemas.microsoft.com/office/drawing/2014/main" id="{CBE238B3-E54A-5365-704A-74C90DBA9A48}"/>
              </a:ext>
            </a:extLst>
          </p:cNvPr>
          <p:cNvSpPr>
            <a:spLocks noGrp="1"/>
          </p:cNvSpPr>
          <p:nvPr>
            <p:ph idx="1"/>
          </p:nvPr>
        </p:nvSpPr>
        <p:spPr>
          <a:xfrm>
            <a:off x="6803409" y="2470245"/>
            <a:ext cx="4156512" cy="3769835"/>
          </a:xfrm>
        </p:spPr>
        <p:txBody>
          <a:bodyPr anchor="ctr">
            <a:normAutofit/>
          </a:bodyPr>
          <a:lstStyle/>
          <a:p>
            <a:pPr marL="342900" marR="0" lvl="0" indent="-342900">
              <a:spcBef>
                <a:spcPts val="0"/>
              </a:spcBef>
              <a:spcAft>
                <a:spcPts val="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Recap: A Comprehensive Approach to Network Security</a:t>
            </a:r>
          </a:p>
          <a:p>
            <a:pPr marL="342900" marR="0" lvl="0" indent="-342900">
              <a:spcBef>
                <a:spcPts val="0"/>
              </a:spcBef>
              <a:spcAft>
                <a:spcPts val="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Advanced Protocols and Devices: Our Security Pillars</a:t>
            </a:r>
          </a:p>
          <a:p>
            <a:pPr marL="342900" marR="0" lvl="0" indent="-342900">
              <a:spcBef>
                <a:spcPts val="0"/>
              </a:spcBef>
              <a:spcAft>
                <a:spcPts val="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Achieving a Balance: Security and Performance Synergy</a:t>
            </a:r>
          </a:p>
          <a:p>
            <a:pPr marL="342900" marR="0" lvl="0" indent="-342900">
              <a:spcBef>
                <a:spcPts val="0"/>
              </a:spcBef>
              <a:spcAft>
                <a:spcPts val="0"/>
              </a:spcAft>
              <a:buFont typeface="Symbol" pitchFamily="2" charset="2"/>
              <a:buChar char=""/>
            </a:pPr>
            <a:r>
              <a:rPr lang="en-US" sz="2000" kern="100">
                <a:effectLst/>
                <a:latin typeface="Calibri" panose="020F0502020204030204" pitchFamily="34" charset="0"/>
                <a:ea typeface="Calibri" panose="020F0502020204030204" pitchFamily="34" charset="0"/>
                <a:cs typeface="Times New Roman" panose="02020603050405020304" pitchFamily="18" charset="0"/>
              </a:rPr>
              <a:t>Embracing a Proactive Security Mindset</a:t>
            </a:r>
          </a:p>
          <a:p>
            <a:pPr marL="0" indent="0">
              <a:buNone/>
            </a:pPr>
            <a:endParaRPr lang="en-US" sz="2000"/>
          </a:p>
        </p:txBody>
      </p:sp>
    </p:spTree>
    <p:extLst>
      <p:ext uri="{BB962C8B-B14F-4D97-AF65-F5344CB8AC3E}">
        <p14:creationId xmlns:p14="http://schemas.microsoft.com/office/powerpoint/2010/main" val="627972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03AE69-368E-4E98-AB87-ED23441C1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49882614-11C4-4368-9534-6EBAC3488C7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2684274" y="-4610867"/>
            <a:ext cx="7223503" cy="16095236"/>
          </a:xfrm>
          <a:prstGeom prst="rect">
            <a:avLst/>
          </a:prstGeom>
        </p:spPr>
      </p:pic>
      <p:sp>
        <p:nvSpPr>
          <p:cNvPr id="2" name="Title 1">
            <a:extLst>
              <a:ext uri="{FF2B5EF4-FFF2-40B4-BE49-F238E27FC236}">
                <a16:creationId xmlns:a16="http://schemas.microsoft.com/office/drawing/2014/main" id="{F32F9905-E686-F6DD-9C0A-8C075731267E}"/>
              </a:ext>
            </a:extLst>
          </p:cNvPr>
          <p:cNvSpPr>
            <a:spLocks noGrp="1"/>
          </p:cNvSpPr>
          <p:nvPr>
            <p:ph type="title"/>
          </p:nvPr>
        </p:nvSpPr>
        <p:spPr>
          <a:xfrm>
            <a:off x="384048" y="228918"/>
            <a:ext cx="5819527" cy="2264392"/>
          </a:xfrm>
        </p:spPr>
        <p:txBody>
          <a:bodyPr anchor="ctr">
            <a:normAutofit/>
          </a:bodyPr>
          <a:lstStyle/>
          <a:p>
            <a:r>
              <a:rPr lang="en-US" sz="5000"/>
              <a:t>References</a:t>
            </a:r>
          </a:p>
        </p:txBody>
      </p:sp>
      <p:sp>
        <p:nvSpPr>
          <p:cNvPr id="13" name="Rectangle 12">
            <a:extLst>
              <a:ext uri="{FF2B5EF4-FFF2-40B4-BE49-F238E27FC236}">
                <a16:creationId xmlns:a16="http://schemas.microsoft.com/office/drawing/2014/main" id="{2010FDC2-8038-452C-BBFC-E9F3A8B13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85797"/>
            <a:ext cx="118872" cy="15504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lasses on top of a book">
            <a:extLst>
              <a:ext uri="{FF2B5EF4-FFF2-40B4-BE49-F238E27FC236}">
                <a16:creationId xmlns:a16="http://schemas.microsoft.com/office/drawing/2014/main" id="{08532712-3CF1-1BC0-30E3-4F750495EB1E}"/>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33923" b="20794"/>
          <a:stretch/>
        </p:blipFill>
        <p:spPr>
          <a:xfrm>
            <a:off x="20" y="2514601"/>
            <a:ext cx="12191980" cy="3657600"/>
          </a:xfrm>
          <a:prstGeom prst="rect">
            <a:avLst/>
          </a:prstGeom>
        </p:spPr>
      </p:pic>
      <p:sp>
        <p:nvSpPr>
          <p:cNvPr id="3" name="Content Placeholder 2">
            <a:extLst>
              <a:ext uri="{FF2B5EF4-FFF2-40B4-BE49-F238E27FC236}">
                <a16:creationId xmlns:a16="http://schemas.microsoft.com/office/drawing/2014/main" id="{58333396-AB8E-7C8E-2380-888512E3EF30}"/>
              </a:ext>
            </a:extLst>
          </p:cNvPr>
          <p:cNvSpPr>
            <a:spLocks noGrp="1"/>
          </p:cNvSpPr>
          <p:nvPr>
            <p:ph idx="1"/>
          </p:nvPr>
        </p:nvSpPr>
        <p:spPr>
          <a:xfrm>
            <a:off x="6568140" y="228917"/>
            <a:ext cx="5346491" cy="2382802"/>
          </a:xfrm>
        </p:spPr>
        <p:txBody>
          <a:bodyPr anchor="ctr">
            <a:normAutofit/>
          </a:bodyPr>
          <a:lstStyle/>
          <a:p>
            <a:r>
              <a:rPr lang="en-US" sz="1800" kern="100" dirty="0">
                <a:effectLst/>
                <a:latin typeface="Arial" panose="020B0604020202020204" pitchFamily="34" charset="0"/>
                <a:ea typeface="Calibri" panose="020F0502020204030204" pitchFamily="34" charset="0"/>
                <a:cs typeface="Times New Roman" panose="02020603050405020304" pitchFamily="18" charset="0"/>
              </a:rPr>
              <a:t>Coleman, D. D., &amp; Westcott, D. A. (2021). CWNA Certified wireless network administrator study guide: Exam CWNA-108 (6th ed.). John Wiley &amp; Sons, Inc.</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a:p>
        </p:txBody>
      </p:sp>
      <p:sp>
        <p:nvSpPr>
          <p:cNvPr id="15" name="Rectangle 14">
            <a:extLst>
              <a:ext uri="{FF2B5EF4-FFF2-40B4-BE49-F238E27FC236}">
                <a16:creationId xmlns:a16="http://schemas.microsoft.com/office/drawing/2014/main" id="{7D65985B-D548-44B4-9714-27AEC913D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73128" y="6172201"/>
            <a:ext cx="118872"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9758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TotalTime>
  <Words>2576</Words>
  <Application>Microsoft Office PowerPoint</Application>
  <PresentationFormat>Widescreen</PresentationFormat>
  <Paragraphs>121</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Meiryo</vt:lpstr>
      <vt:lpstr>Arial</vt:lpstr>
      <vt:lpstr>Calibri</vt:lpstr>
      <vt:lpstr>Calibri Light</vt:lpstr>
      <vt:lpstr>Symbol</vt:lpstr>
      <vt:lpstr>Office Theme</vt:lpstr>
      <vt:lpstr>Security Configurations for Wireless Network</vt:lpstr>
      <vt:lpstr>Securing Our Digital Horizon </vt:lpstr>
      <vt:lpstr>Guarding the Airwaves: Wireless Security Imperatives </vt:lpstr>
      <vt:lpstr>Fortifying the Wireless Realm </vt:lpstr>
      <vt:lpstr>Probing the Network's Shield </vt:lpstr>
      <vt:lpstr>Strengthening the Network's Backbone </vt:lpstr>
      <vt:lpstr>Arming the Network with Advanced Tech </vt:lpstr>
      <vt:lpstr>Championing Proactive Network Defense </vt:lpstr>
      <vt:lpstr>Encrypting Data: The Pillar of Network Security </vt:lpstr>
      <vt:lpstr>Redesigning for Resilience - Part 1 </vt:lpstr>
      <vt:lpstr>Redesigning for Resilience - Part 2</vt:lpstr>
      <vt:lpstr>The Why Behind Our Security Strategy </vt:lpstr>
      <vt:lpstr>Securing Today, Envisioning Tomorrow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Configurations for Wireless Network</dc:title>
  <dc:creator>jesse missaghian</dc:creator>
  <cp:lastModifiedBy>jesse missaghian</cp:lastModifiedBy>
  <cp:revision>27</cp:revision>
  <dcterms:created xsi:type="dcterms:W3CDTF">2023-12-19T00:57:01Z</dcterms:created>
  <dcterms:modified xsi:type="dcterms:W3CDTF">2026-04-27T21:55:46Z</dcterms:modified>
</cp:coreProperties>
</file>